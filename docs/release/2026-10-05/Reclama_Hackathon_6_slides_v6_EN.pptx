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177c38c9d64235" /><Relationship Type="http://schemas.openxmlformats.org/officeDocument/2006/relationships/extended-properties" Target="/docProps/app.xml" Id="R56025fde9f874a46" /><Relationship Type="http://schemas.openxmlformats.org/officeDocument/2006/relationships/officeDocument" Target="/ppt/presentation.xml" Id="R136cc3022d28423d" /></Relationships>
</file>

<file path=ppt/presentation.xml><?xml version="1.0" encoding="utf-8"?>
<p:presentation xmlns:p="http://schemas.openxmlformats.org/presentationml/2006/main">
  <p:sldMasterIdLst>
    <p:sldMasterId xmlns:r="http://schemas.openxmlformats.org/officeDocument/2006/relationships" id="2147483648" r:id="R23a3a697432344df"/>
  </p:sldMasterIdLst>
  <p:notesMasterIdLst>
    <p:notesMasterId xmlns:r="http://schemas.openxmlformats.org/officeDocument/2006/relationships" r:id="R5e61957d9ff5424a"/>
  </p:notesMasterIdLst>
  <p:sldIdLst>
    <p:sldId xmlns:r="http://schemas.openxmlformats.org/officeDocument/2006/relationships" id="256" r:id="Ra3011baccbed4cb9"/>
    <p:sldId xmlns:r="http://schemas.openxmlformats.org/officeDocument/2006/relationships" id="257" r:id="Rc9f479f8380a40a6"/>
    <p:sldId xmlns:r="http://schemas.openxmlformats.org/officeDocument/2006/relationships" id="258" r:id="R500690c608974011"/>
    <p:sldId xmlns:r="http://schemas.openxmlformats.org/officeDocument/2006/relationships" id="259" r:id="R0ed79b7d125c414d"/>
    <p:sldId xmlns:r="http://schemas.openxmlformats.org/officeDocument/2006/relationships" id="260" r:id="Rd73cc2e0f19c446a"/>
    <p:sldId xmlns:r="http://schemas.openxmlformats.org/officeDocument/2006/relationships" id="261" r:id="R539e1f929dcc4f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428f30c1904e8b" /><Relationship Type="http://schemas.openxmlformats.org/officeDocument/2006/relationships/slideMaster" Target="/ppt/slideMasters/slideMaster1.xml" Id="R23a3a697432344df" /><Relationship Type="http://schemas.openxmlformats.org/officeDocument/2006/relationships/notesMaster" Target="/ppt/notesMasters/notesMaster1.xml" Id="R5e61957d9ff5424a" /><Relationship Type="http://schemas.openxmlformats.org/officeDocument/2006/relationships/presProps" Target="/ppt/presProps.xml" Id="Reda1f66c07de4c0e" /><Relationship Type="http://schemas.openxmlformats.org/officeDocument/2006/relationships/tableStyles" Target="/ppt/tableStyles.xml" Id="R8c03a6b52fe7439c" /><Relationship Type="http://schemas.openxmlformats.org/officeDocument/2006/relationships/slide" Target="/ppt/slides/slide1.xml" Id="Ra3011baccbed4cb9" /><Relationship Type="http://schemas.openxmlformats.org/officeDocument/2006/relationships/slide" Target="/ppt/slides/slide2.xml" Id="Rc9f479f8380a40a6" /><Relationship Type="http://schemas.openxmlformats.org/officeDocument/2006/relationships/slide" Target="/ppt/slides/slide3.xml" Id="R500690c608974011" /><Relationship Type="http://schemas.openxmlformats.org/officeDocument/2006/relationships/slide" Target="/ppt/slides/slide4.xml" Id="R0ed79b7d125c414d" /><Relationship Type="http://schemas.openxmlformats.org/officeDocument/2006/relationships/slide" Target="/ppt/slides/slide5.xml" Id="Rd73cc2e0f19c446a" /><Relationship Type="http://schemas.openxmlformats.org/officeDocument/2006/relationships/slide" Target="/ppt/slides/slide6.xml" Id="R539e1f929dcc4f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ff8b13614b43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9f9b3a50194bf9" /><Relationship Type="http://schemas.openxmlformats.org/officeDocument/2006/relationships/notesMaster" Target="/ppt/notesMasters/notesMaster1.xml" Id="R89d4a9f1359a4d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25944888a54dfd" /><Relationship Type="http://schemas.openxmlformats.org/officeDocument/2006/relationships/notesMaster" Target="/ppt/notesMasters/notesMaster1.xml" Id="R6a4513099ab24a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ce23c018044158" /><Relationship Type="http://schemas.openxmlformats.org/officeDocument/2006/relationships/notesMaster" Target="/ppt/notesMasters/notesMaster1.xml" Id="R78540bda95774f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9b8a9a6cc14381" /><Relationship Type="http://schemas.openxmlformats.org/officeDocument/2006/relationships/notesMaster" Target="/ppt/notesMasters/notesMaster1.xml" Id="Re3e9e52001824f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8a42381949456d" /><Relationship Type="http://schemas.openxmlformats.org/officeDocument/2006/relationships/notesMaster" Target="/ppt/notesMasters/notesMaster1.xml" Id="Rdc9bd5e95aff47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0575ecc5fe47e5" /><Relationship Type="http://schemas.openxmlformats.org/officeDocument/2006/relationships/notesMaster" Target="/ppt/notesMasters/notesMaster1.xml" Id="R2d0fc3a8256c40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Reclama prepares card-dispute intake for human review. Demonstrated value: recover a persisted case after an explicitly simulated lost response while retaining source facts, the customer statement and audit trail. Focused engineering contribution, without a claim of unique invention or proven business savings. No fraud adjudication, refund or money movement. Team supplied by user. Official scope: https://www.factored.ai/careers/ai-data-hackathon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local sandbox screenshot with invented fixtures: docs/video/sources/review-es.png. Customer interfaces remain Spanish and Portuguese as required. English narration and exact click path: docs/release/2026-10-05/RECORDING_SCRIPT_EN.md. Exact transaction selection and explicit consent precede writes. Receipt establishes intake, not financial resolution. This screenshot does not establish hosted-account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19, TypeScript, Vinext, Cloudflare Worker and D1 SQLite. Frozen TF-IDF/logistic regression suggests intent. Deterministic ownership, roles, consent, state constraints and idempotency control writes outside the model. The model cannot authorize a transaction or select a charge. A unique write followed by readback precedes a receipt. No bank connector. No external model API at runtime. Total infrastructure/storage/human-review cost is unknown. Conditional tariff model and exclusions: docs/evidence/CASE_COST_MODEL_2026-09-30.md, last tariff check October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corpus diagnostics from the separate evaluation worker, October 4: 7,671 CSV, 13 tables, 23,495,188 rows. Relevant complaints/transcripts: 2,194 CSV, 238,416 rows, 47 distinct customer inputs, one connected grouping component. All 47 already appeared in the earlier 12-date sample: retrospective, not unseen. Spanish only, zero Portuguese. Two AI reviewers agreed on 25 labels, disagreed on 21, both abstained on one. Agreement supports account_query (21) and other (4). Six unsupported classes: card_lost, credit_query, duplicate, merchant_issue, refund_request, unrecognized. No confidence intervals or population claims. Sanitized provenance: docs/release/2026-10-05/corpus-diagnostic.json and EVIDENCE_LIMITS.md. Earlier sample ownership findings remain in data-pipeline/report.json; they are not extrapolated to the full corpus. Private rows are excluded from this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25 distinct AI-agreement texts: rules matched 25/25, frozen v2 matched 21/25. Both matched 21 account_query examples. V2 mislabeled four other examples: three unrecognized, one merchant_issue. The remaining 22 inputs lack an agreed label. This is not human gold or an admissible independent benchmark. All 47 inputs trigger clarification, zero acceptances, zero coverage, selective accuracy undefined. No model advantage is established. The archived 256-message AI-authored experiment remains development history. Sources: docs/release/2026-10-05/corpus-diagnostic.json and EVIDENCE_LIMITS.md.</a:t>
            </a:r>
          </a:p>
          <a:p xmlns:a="http://schemas.openxmlformats.org/drawingml/2006/main">
            <a:r>
              <a:t/>
            </a:r>
          </a:p>
          <a:p xmlns:a="http://schemas.openxmlformats.org/drawingml/2006/main">
            <a:r>
              <a:t>Separate software QA: docs/evidence/full-case-rerun-2026-10-02.json reports five ES intakes, five PT clarification sequences and five PT support handoffs. All 15 pass prepared criteria across 70 timed requests. Sequence p50/p95 milliseconds: normal 110.15/265.60, ambiguity 37.01/54.38, handoff 101.37/104.55. Setup, sign-in, rendering and human time excluded. n=5 per scenario: p95 is the largest observation. Run overlapped a build. These are repeated prepared sequences, not independent customers or financial resolutions. Total cost unknown. Historical 28 HTTP checks and 160 contract assertions are separate software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October 5 private release review. Existing demo: https://reclama-factored-2026.villafortech.chatgpt.site . Private repo: https://github.com/VillaforTech/factored-hackathon-2026-reclama . Draft PR #2 targets codex/reclama. Remote head fa53b3578a2ea33c3037a5c4620832d3d3519a27 has successful CI: https://github.com/VillaforTech/factored-hackathon-2026-reclama/actions/runs/36997154601 . Later local English-guide/release edits are neither deployed nor covered by that CI. Existing deployment source: 3ae216e005b9625a9bc68e4bbf082d86dec7e53b. October 4 policy: custom access for owner and one external viewer. Anonymous-denial checks passed. Normal real-account login, reload and two-account isolation remain unverified. No supported authenticated browser is connected here; that does not prove an identity-provider failure.</a:t>
            </a:r>
          </a:p>
          <a:p xmlns:a="http://schemas.openxmlformats.org/drawingml/2006/main">
            <a:r>
              <a:t/>
            </a:r>
          </a:p>
          <a:p xmlns:a="http://schemas.openxmlformats.org/drawingml/2006/main">
            <a:r>
              <a:t>Official hub requires public repository, working deployed link, 4–6 slides and video at most three minutes: https://www.factored.ai/careers/ai-data-hackathon . English and no face required: https://factored-hackathon.slack.com/archives/C0BUZCY0TUY/p1791153414484629 . Public demo preferred, judges randomly assigned and may contact submitter if access fails: https://factored-hackathon.slack.com/archives/C0BU54YAKMG/p1791153383839789 . This is not an explicit anonymous-access mandate. Publication, invitations, integration, push, deployment and submission still need approval. User will record English demo; no new video produced. Recorded deadline October 5, 23:59 UTC−5: https://factored-hackathon.slack.com/archives/C0BU54YAKMG/p1790614675075619 . No submission receipt. Human language review and real-account A/B tests are internal recommendations, not additional official clauses.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8d83cbe93e44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769a06031940fc" /><Relationship Type="http://schemas.openxmlformats.org/officeDocument/2006/relationships/slideLayout" Target="/ppt/slideLayouts/slideLayout1.xml" Id="Rbddc671105524e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dc671105524e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7ca04cb3a845cc" /><Relationship Type="http://schemas.openxmlformats.org/officeDocument/2006/relationships/notesSlide" Target="/ppt/notesSlides/notesSlide1.xml" Id="R921b290127e540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773db319b34f17" /><Relationship Type="http://schemas.openxmlformats.org/officeDocument/2006/relationships/image" Target="/ppt/media/image.jpeg" Id="Rc30f02ea0f714602" /><Relationship Type="http://schemas.openxmlformats.org/officeDocument/2006/relationships/notesSlide" Target="/ppt/notesSlides/notesSlide2.xml" Id="Re2e5c566f4f045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a7f9202d1d4aab" /><Relationship Type="http://schemas.openxmlformats.org/officeDocument/2006/relationships/notesSlide" Target="/ppt/notesSlides/notesSlide3.xml" Id="R6d20602587fd48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7e4a1c3a61481d" /><Relationship Type="http://schemas.openxmlformats.org/officeDocument/2006/relationships/notesSlide" Target="/ppt/notesSlides/notesSlide4.xml" Id="Racd429d19c5047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95f0a3b9144201" /><Relationship Type="http://schemas.openxmlformats.org/officeDocument/2006/relationships/notesSlide" Target="/ppt/notesSlides/notesSlide5.xml" Id="R10c636f6d89f49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5cfd17d3224a25" /><Relationship Type="http://schemas.openxmlformats.org/officeDocument/2006/relationships/hyperlink" Target="https://reclama-factored-2026.villafortech.chatgpt.site/" TargetMode="External" Id="R0771042c96f64350" /><Relationship Type="http://schemas.openxmlformats.org/officeDocument/2006/relationships/hyperlink" Target="https://github.com/VillaforTech/factored-hackathon-2026-reclama" TargetMode="External" Id="R764b02792eb24cbf" /><Relationship Type="http://schemas.openxmlformats.org/officeDocument/2006/relationships/notesSlide" Target="/ppt/notesSlides/notesSlide6.xml" Id="R4f967ce0d0574a31" /></Relationships>
</file>

<file path=ppt/slides/slide1.xml><?xml version="1.0" encoding="utf-8"?>
<p:sld xmlns:p="http://schemas.openxmlformats.org/presentationml/2006/main">
  <p:cSld>
    <p:bg>
      <p:bgPr>
        <a:solidFill xmlns:a="http://schemas.openxmlformats.org/drawingml/2006/main">
          <a:srgbClr val="112D4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EEBB79-F0AC-4E9A-8B8B-17DCDCB73764}"/>
              </a:ext>
            </a:extLst>
          </p:cNvPr>
          <p:cNvSpPr>
            <a:spLocks xmlns:a="http://schemas.openxmlformats.org/drawingml/2006/main" noGrp="1"/>
          </p:cNvSpPr>
          <p:nvPr/>
        </p:nvSpPr>
        <p:spPr>
          <a:xfrm xmlns:a="http://schemas.openxmlformats.org/drawingml/2006/main">
            <a:off x="685800" y="6667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7350" b="1">
                <a:solidFill>
                  <a:srgbClr val="FFFFFF"/>
                </a:solidFill>
                <a:latin typeface="Arial"/>
                <a:ea typeface="Arial"/>
                <a:cs typeface="Arial"/>
              </a:defRPr>
            </a:pPr>
            <a:r>
              <a:rPr sz="7350" b="1">
                <a:solidFill>
                  <a:srgbClr val="FFFFFF"/>
                </a:solidFill>
                <a:latin typeface="Arial"/>
                <a:ea typeface="Arial"/>
                <a:cs typeface="Arial"/>
              </a:rPr>
              <a:t>Reclama</a:t>
            </a:r>
          </a:p>
        </p:txBody>
      </p:sp>
      <p:sp>
        <p:nvSpPr>
          <p:cNvPr id="2" name="">
            <a:extLst xmlns:a="http://schemas.openxmlformats.org/drawingml/2006/main">
              <a:ext uri="{FF2B5EF4-FFF2-40B4-BE49-F238E27FC236}">
                <a16:creationId xmlns:a16="http://schemas.microsoft.com/office/drawing/2014/main" id="{0F7868E7-96E5-49EF-862A-F30E46871594}"/>
              </a:ext>
            </a:extLst>
          </p:cNvPr>
          <p:cNvSpPr>
            <a:spLocks xmlns:a="http://schemas.openxmlformats.org/drawingml/2006/main" noGrp="1"/>
          </p:cNvSpPr>
          <p:nvPr/>
        </p:nvSpPr>
        <p:spPr>
          <a:xfrm xmlns:a="http://schemas.openxmlformats.org/drawingml/2006/main">
            <a:off x="723900" y="2152650"/>
            <a:ext cx="1009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900" b="1">
                <a:solidFill>
                  <a:srgbClr val="FFFFFF"/>
                </a:solidFill>
                <a:latin typeface="Arial"/>
                <a:ea typeface="Arial"/>
                <a:cs typeface="Arial"/>
              </a:defRPr>
            </a:pPr>
            <a:r>
              <a:rPr sz="3900" b="1">
                <a:solidFill>
                  <a:srgbClr val="FFFFFF"/>
                </a:solidFill>
                <a:latin typeface="Arial"/>
                <a:ea typeface="Arial"/>
                <a:cs typeface="Arial"/>
              </a:rPr>
              <a:t>Card disputes</a:t>
            </a:r>
          </a:p>
          <a:p xmlns:a="http://schemas.openxmlformats.org/drawingml/2006/main">
            <a:pPr>
              <a:buNone/>
              <a:defRPr sz="3900" b="1">
                <a:solidFill>
                  <a:srgbClr val="FFFFFF"/>
                </a:solidFill>
                <a:latin typeface="Arial"/>
                <a:ea typeface="Arial"/>
                <a:cs typeface="Arial"/>
              </a:defRPr>
            </a:pPr>
            <a:r>
              <a:rPr sz="3900" b="1">
                <a:solidFill>
                  <a:srgbClr val="FFFFFF"/>
                </a:solidFill>
                <a:latin typeface="Arial"/>
                <a:ea typeface="Arial"/>
                <a:cs typeface="Arial"/>
              </a:rPr>
              <a:t>with verifiable evidence</a:t>
            </a:r>
          </a:p>
        </p:txBody>
      </p:sp>
      <p:sp>
        <p:nvSpPr>
          <p:cNvPr id="3" name="">
            <a:extLst xmlns:a="http://schemas.openxmlformats.org/drawingml/2006/main">
              <a:ext uri="{FF2B5EF4-FFF2-40B4-BE49-F238E27FC236}">
                <a16:creationId xmlns:a16="http://schemas.microsoft.com/office/drawing/2014/main" id="{54FD62A4-B868-404A-8E61-8ABF52B6E60E}"/>
              </a:ext>
            </a:extLst>
          </p:cNvPr>
          <p:cNvSpPr>
            <a:spLocks xmlns:a="http://schemas.openxmlformats.org/drawingml/2006/main" noGrp="1"/>
          </p:cNvSpPr>
          <p:nvPr/>
        </p:nvSpPr>
        <p:spPr>
          <a:xfrm xmlns:a="http://schemas.openxmlformats.org/drawingml/2006/main">
            <a:off x="723900" y="3895725"/>
            <a:ext cx="1000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9E7DE"/>
                </a:solidFill>
                <a:latin typeface="Arial"/>
                <a:ea typeface="Arial"/>
                <a:cs typeface="Arial"/>
              </a:defRPr>
            </a:pPr>
            <a:r>
              <a:rPr sz="2325" b="0">
                <a:solidFill>
                  <a:srgbClr val="C9E7DE"/>
                </a:solidFill>
                <a:latin typeface="Arial"/>
                <a:ea typeface="Arial"/>
                <a:cs typeface="Arial"/>
              </a:rPr>
              <a:t>The customer confirms an exact charge.</a:t>
            </a:r>
          </a:p>
          <a:p xmlns:a="http://schemas.openxmlformats.org/drawingml/2006/main">
            <a:pPr>
              <a:buNone/>
              <a:defRPr sz="2325" b="0">
                <a:solidFill>
                  <a:srgbClr val="C9E7DE"/>
                </a:solidFill>
                <a:latin typeface="Arial"/>
                <a:ea typeface="Arial"/>
                <a:cs typeface="Arial"/>
              </a:defRPr>
            </a:pPr>
            <a:r>
              <a:rPr sz="2325" b="0">
                <a:solidFill>
                  <a:srgbClr val="C9E7DE"/>
                </a:solidFill>
                <a:latin typeface="Arial"/>
                <a:ea typeface="Arial"/>
                <a:cs typeface="Arial"/>
              </a:rPr>
              <a:t>The reviewer receives an auditable case.</a:t>
            </a:r>
          </a:p>
        </p:txBody>
      </p:sp>
      <p:sp>
        <p:nvSpPr>
          <p:cNvPr id="4" name="">
            <a:extLst xmlns:a="http://schemas.openxmlformats.org/drawingml/2006/main">
              <a:ext uri="{FF2B5EF4-FFF2-40B4-BE49-F238E27FC236}">
                <a16:creationId xmlns:a16="http://schemas.microsoft.com/office/drawing/2014/main" id="{55854F04-E2A8-486F-8980-186152B4F85E}"/>
              </a:ext>
            </a:extLst>
          </p:cNvPr>
          <p:cNvSpPr>
            <a:spLocks xmlns:a="http://schemas.openxmlformats.org/drawingml/2006/main" noGrp="1"/>
          </p:cNvSpPr>
          <p:nvPr/>
        </p:nvSpPr>
        <p:spPr>
          <a:xfrm xmlns:a="http://schemas.openxmlformats.org/drawingml/2006/main">
            <a:off x="723900" y="55149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FFFFFF"/>
                </a:solidFill>
                <a:latin typeface="Arial"/>
                <a:ea typeface="Arial"/>
                <a:cs typeface="Arial"/>
              </a:defRPr>
            </a:pPr>
            <a:r>
              <a:rPr sz="1800" b="0">
                <a:solidFill>
                  <a:srgbClr val="FFFFFF"/>
                </a:solidFill>
                <a:latin typeface="Arial"/>
                <a:ea typeface="Arial"/>
                <a:cs typeface="Arial"/>
              </a:rPr>
              <a:t>Roberto Villafuerte   Jorge Arguello   Daniel Andrade</a:t>
            </a:r>
          </a:p>
        </p:txBody>
      </p:sp>
      <p:sp>
        <p:nvSpPr>
          <p:cNvPr id="5" name="">
            <a:extLst xmlns:a="http://schemas.openxmlformats.org/drawingml/2006/main">
              <a:ext uri="{FF2B5EF4-FFF2-40B4-BE49-F238E27FC236}">
                <a16:creationId xmlns:a16="http://schemas.microsoft.com/office/drawing/2014/main" id="{FB153B89-E7B9-4894-88F8-3E0AE3193117}"/>
              </a:ext>
            </a:extLst>
          </p:cNvPr>
          <p:cNvSpPr>
            <a:spLocks xmlns:a="http://schemas.openxmlformats.org/drawingml/2006/main" noGrp="1"/>
          </p:cNvSpPr>
          <p:nvPr/>
        </p:nvSpPr>
        <p:spPr>
          <a:xfrm xmlns:a="http://schemas.openxmlformats.org/drawingml/2006/main">
            <a:off x="723900" y="6286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C9E7DE"/>
                </a:solidFill>
                <a:latin typeface="Arial"/>
                <a:ea typeface="Arial"/>
                <a:cs typeface="Arial"/>
              </a:defRPr>
            </a:pPr>
            <a:r>
              <a:rPr sz="1200" b="0">
                <a:solidFill>
                  <a:srgbClr val="C9E7DE"/>
                </a:solidFill>
                <a:latin typeface="Arial"/>
                <a:ea typeface="Arial"/>
                <a:cs typeface="Arial"/>
              </a:rPr>
              <a:t>Factored AI &amp; Data Hackathon 2026. Sandbox with no real financial decisions.</a:t>
            </a:r>
          </a:p>
        </p:txBody>
      </p:sp>
    </p:spTree>
    <p:extLst>
      <p:ext uri="{BB962C8B-B14F-4D97-AF65-F5344CB8AC3E}">
        <p14:creationId xmlns:p14="http://schemas.microsoft.com/office/powerpoint/2010/main" val="919392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8F344B-D3E0-4E59-A270-7C69D9FC5A20}"/>
              </a:ext>
            </a:extLst>
          </p:cNvPr>
          <p:cNvSpPr>
            <a:spLocks xmlns:a="http://schemas.openxmlformats.org/drawingml/2006/main" noGrp="1"/>
          </p:cNvSpPr>
          <p:nvPr/>
        </p:nvSpPr>
        <p:spPr>
          <a:xfrm xmlns:a="http://schemas.openxmlformats.org/drawingml/2006/main">
            <a:off x="685800" y="55245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12D40"/>
                </a:solidFill>
                <a:latin typeface="Arial"/>
                <a:ea typeface="Arial"/>
                <a:cs typeface="Arial"/>
              </a:defRPr>
            </a:pPr>
            <a:r>
              <a:rPr sz="3300" b="1">
                <a:solidFill>
                  <a:srgbClr val="112D40"/>
                </a:solidFill>
                <a:latin typeface="Arial"/>
                <a:ea typeface="Arial"/>
                <a:cs typeface="Arial"/>
              </a:rPr>
              <a:t>A complete request in Spanish and Portuguese</a:t>
            </a:r>
          </a:p>
        </p:txBody>
      </p:sp>
      <p:sp>
        <p:nvSpPr>
          <p:cNvPr id="2" name="">
            <a:extLst xmlns:a="http://schemas.openxmlformats.org/drawingml/2006/main">
              <a:ext uri="{FF2B5EF4-FFF2-40B4-BE49-F238E27FC236}">
                <a16:creationId xmlns:a16="http://schemas.microsoft.com/office/drawing/2014/main" id="{EEB045EC-C75F-4808-8D9F-3FF7925A8FD5}"/>
              </a:ext>
            </a:extLst>
          </p:cNvPr>
          <p:cNvSpPr>
            <a:spLocks xmlns:a="http://schemas.openxmlformats.org/drawingml/2006/main" noGrp="1"/>
          </p:cNvSpPr>
          <p:nvPr/>
        </p:nvSpPr>
        <p:spPr>
          <a:xfrm xmlns:a="http://schemas.openxmlformats.org/drawingml/2006/main">
            <a:off x="685800" y="63436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36672"/>
                </a:solidFill>
                <a:latin typeface="Arial"/>
                <a:ea typeface="Arial"/>
                <a:cs typeface="Arial"/>
              </a:defRPr>
            </a:pPr>
            <a:r>
              <a:rPr sz="1200" b="0">
                <a:solidFill>
                  <a:srgbClr val="536672"/>
                </a:solidFill>
                <a:latin typeface="Arial"/>
                <a:ea typeface="Arial"/>
                <a:cs typeface="Arial"/>
              </a:rPr>
              <a:t>Sandbox. Team-created demo data. Request intake for human review.</a:t>
            </a:r>
          </a:p>
        </p:txBody>
      </p:sp>
      <p:sp>
        <p:nvSpPr>
          <p:cNvPr id="3" name="">
            <a:extLst xmlns:a="http://schemas.openxmlformats.org/drawingml/2006/main">
              <a:ext uri="{FF2B5EF4-FFF2-40B4-BE49-F238E27FC236}">
                <a16:creationId xmlns:a16="http://schemas.microsoft.com/office/drawing/2014/main" id="{D8F248A4-C0E1-4245-8726-AB9E5CCA8EDB}"/>
              </a:ext>
            </a:extLst>
          </p:cNvPr>
          <p:cNvSpPr>
            <a:spLocks xmlns:a="http://schemas.openxmlformats.org/drawingml/2006/main" noGrp="1"/>
          </p:cNvSpPr>
          <p:nvPr/>
        </p:nvSpPr>
        <p:spPr>
          <a:xfrm xmlns:a="http://schemas.openxmlformats.org/drawingml/2006/main">
            <a:off x="685800" y="16383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33917B"/>
                </a:solidFill>
                <a:latin typeface="Arial"/>
                <a:ea typeface="Arial"/>
                <a:cs typeface="Arial"/>
              </a:defRPr>
            </a:pPr>
            <a:r>
              <a:rPr sz="2700" b="1">
                <a:solidFill>
                  <a:srgbClr val="33917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4D3A25A-EAF2-45BC-A2BA-9094A0E00CC5}"/>
              </a:ext>
            </a:extLst>
          </p:cNvPr>
          <p:cNvSpPr>
            <a:spLocks xmlns:a="http://schemas.openxmlformats.org/drawingml/2006/main" noGrp="1"/>
          </p:cNvSpPr>
          <p:nvPr/>
        </p:nvSpPr>
        <p:spPr>
          <a:xfrm xmlns:a="http://schemas.openxmlformats.org/drawingml/2006/main">
            <a:off x="685800" y="22098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12D40"/>
                </a:solidFill>
                <a:latin typeface="Arial"/>
                <a:ea typeface="Arial"/>
                <a:cs typeface="Arial"/>
              </a:defRPr>
            </a:pPr>
            <a:r>
              <a:rPr sz="2325" b="1">
                <a:solidFill>
                  <a:srgbClr val="112D40"/>
                </a:solidFill>
                <a:latin typeface="Arial"/>
                <a:ea typeface="Arial"/>
                <a:cs typeface="Arial"/>
              </a:rPr>
              <a:t>Identify</a:t>
            </a:r>
          </a:p>
        </p:txBody>
      </p:sp>
      <p:sp>
        <p:nvSpPr>
          <p:cNvPr id="5" name="">
            <a:extLst xmlns:a="http://schemas.openxmlformats.org/drawingml/2006/main">
              <a:ext uri="{FF2B5EF4-FFF2-40B4-BE49-F238E27FC236}">
                <a16:creationId xmlns:a16="http://schemas.microsoft.com/office/drawing/2014/main" id="{65B68B56-5B20-471B-95CD-0F6B71CAE3AE}"/>
              </a:ext>
            </a:extLst>
          </p:cNvPr>
          <p:cNvSpPr>
            <a:spLocks xmlns:a="http://schemas.openxmlformats.org/drawingml/2006/main" noGrp="1"/>
          </p:cNvSpPr>
          <p:nvPr/>
        </p:nvSpPr>
        <p:spPr>
          <a:xfrm xmlns:a="http://schemas.openxmlformats.org/drawingml/2006/main">
            <a:off x="685800" y="27527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36672"/>
                </a:solidFill>
                <a:latin typeface="Arial"/>
                <a:ea typeface="Arial"/>
                <a:cs typeface="Arial"/>
              </a:defRPr>
            </a:pPr>
            <a:r>
              <a:rPr sz="1800" b="0">
                <a:solidFill>
                  <a:srgbClr val="536672"/>
                </a:solidFill>
                <a:latin typeface="Arial"/>
                <a:ea typeface="Arial"/>
                <a:cs typeface="Arial"/>
              </a:rPr>
              <a:t>Customer ownership and exact charge</a:t>
            </a:r>
          </a:p>
        </p:txBody>
      </p:sp>
      <p:sp>
        <p:nvSpPr>
          <p:cNvPr id="6" name="">
            <a:extLst xmlns:a="http://schemas.openxmlformats.org/drawingml/2006/main">
              <a:ext uri="{FF2B5EF4-FFF2-40B4-BE49-F238E27FC236}">
                <a16:creationId xmlns:a16="http://schemas.microsoft.com/office/drawing/2014/main" id="{57F485B9-C69E-4566-B67C-78D2AE706638}"/>
              </a:ext>
            </a:extLst>
          </p:cNvPr>
          <p:cNvSpPr>
            <a:spLocks xmlns:a="http://schemas.openxmlformats.org/drawingml/2006/main" noGrp="1"/>
          </p:cNvSpPr>
          <p:nvPr/>
        </p:nvSpPr>
        <p:spPr>
          <a:xfrm xmlns:a="http://schemas.openxmlformats.org/drawingml/2006/main">
            <a:off x="4305300" y="16383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33917B"/>
                </a:solidFill>
                <a:latin typeface="Arial"/>
                <a:ea typeface="Arial"/>
                <a:cs typeface="Arial"/>
              </a:defRPr>
            </a:pPr>
            <a:r>
              <a:rPr sz="2700" b="1">
                <a:solidFill>
                  <a:srgbClr val="33917B"/>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BF0D5C4-78AB-4318-A025-EF64362BD959}"/>
              </a:ext>
            </a:extLst>
          </p:cNvPr>
          <p:cNvSpPr>
            <a:spLocks xmlns:a="http://schemas.openxmlformats.org/drawingml/2006/main" noGrp="1"/>
          </p:cNvSpPr>
          <p:nvPr/>
        </p:nvSpPr>
        <p:spPr>
          <a:xfrm xmlns:a="http://schemas.openxmlformats.org/drawingml/2006/main">
            <a:off x="4305300" y="22098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12D40"/>
                </a:solidFill>
                <a:latin typeface="Arial"/>
                <a:ea typeface="Arial"/>
                <a:cs typeface="Arial"/>
              </a:defRPr>
            </a:pPr>
            <a:r>
              <a:rPr sz="2325" b="1">
                <a:solidFill>
                  <a:srgbClr val="112D40"/>
                </a:solidFill>
                <a:latin typeface="Arial"/>
                <a:ea typeface="Arial"/>
                <a:cs typeface="Arial"/>
              </a:rPr>
              <a:t>Confirm</a:t>
            </a:r>
          </a:p>
        </p:txBody>
      </p:sp>
      <p:sp>
        <p:nvSpPr>
          <p:cNvPr id="8" name="">
            <a:extLst xmlns:a="http://schemas.openxmlformats.org/drawingml/2006/main">
              <a:ext uri="{FF2B5EF4-FFF2-40B4-BE49-F238E27FC236}">
                <a16:creationId xmlns:a16="http://schemas.microsoft.com/office/drawing/2014/main" id="{BE351B00-F4FF-4258-AC7A-E3A95CBF1323}"/>
              </a:ext>
            </a:extLst>
          </p:cNvPr>
          <p:cNvSpPr>
            <a:spLocks xmlns:a="http://schemas.openxmlformats.org/drawingml/2006/main" noGrp="1"/>
          </p:cNvSpPr>
          <p:nvPr/>
        </p:nvSpPr>
        <p:spPr>
          <a:xfrm xmlns:a="http://schemas.openxmlformats.org/drawingml/2006/main">
            <a:off x="4305300" y="27527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36672"/>
                </a:solidFill>
                <a:latin typeface="Arial"/>
                <a:ea typeface="Arial"/>
                <a:cs typeface="Arial"/>
              </a:defRPr>
            </a:pPr>
            <a:r>
              <a:rPr sz="1800" b="0">
                <a:solidFill>
                  <a:srgbClr val="536672"/>
                </a:solidFill>
                <a:latin typeface="Arial"/>
                <a:ea typeface="Arial"/>
                <a:cs typeface="Arial"/>
              </a:rPr>
              <a:t>Separate facts from the customer statement</a:t>
            </a:r>
          </a:p>
        </p:txBody>
      </p:sp>
      <p:sp>
        <p:nvSpPr>
          <p:cNvPr id="9" name="">
            <a:extLst xmlns:a="http://schemas.openxmlformats.org/drawingml/2006/main">
              <a:ext uri="{FF2B5EF4-FFF2-40B4-BE49-F238E27FC236}">
                <a16:creationId xmlns:a16="http://schemas.microsoft.com/office/drawing/2014/main" id="{A9FF9992-9A86-45C0-82CD-4005D2AF569A}"/>
              </a:ext>
            </a:extLst>
          </p:cNvPr>
          <p:cNvSpPr>
            <a:spLocks xmlns:a="http://schemas.openxmlformats.org/drawingml/2006/main" noGrp="1"/>
          </p:cNvSpPr>
          <p:nvPr/>
        </p:nvSpPr>
        <p:spPr>
          <a:xfrm xmlns:a="http://schemas.openxmlformats.org/drawingml/2006/main">
            <a:off x="7924800" y="1638300"/>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700" b="1">
                <a:solidFill>
                  <a:srgbClr val="33917B"/>
                </a:solidFill>
                <a:latin typeface="Arial"/>
                <a:ea typeface="Arial"/>
                <a:cs typeface="Arial"/>
              </a:defRPr>
            </a:pPr>
            <a:r>
              <a:rPr sz="2700" b="1">
                <a:solidFill>
                  <a:srgbClr val="33917B"/>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FD0020E2-235F-4A21-AC87-48C1544F1267}"/>
              </a:ext>
            </a:extLst>
          </p:cNvPr>
          <p:cNvSpPr>
            <a:spLocks xmlns:a="http://schemas.openxmlformats.org/drawingml/2006/main" noGrp="1"/>
          </p:cNvSpPr>
          <p:nvPr/>
        </p:nvSpPr>
        <p:spPr>
          <a:xfrm xmlns:a="http://schemas.openxmlformats.org/drawingml/2006/main">
            <a:off x="7924800" y="22098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12D40"/>
                </a:solidFill>
                <a:latin typeface="Arial"/>
                <a:ea typeface="Arial"/>
                <a:cs typeface="Arial"/>
              </a:defRPr>
            </a:pPr>
            <a:r>
              <a:rPr sz="2325" b="1">
                <a:solidFill>
                  <a:srgbClr val="112D40"/>
                </a:solidFill>
                <a:latin typeface="Arial"/>
                <a:ea typeface="Arial"/>
                <a:cs typeface="Arial"/>
              </a:rPr>
              <a:t>Record</a:t>
            </a:r>
          </a:p>
        </p:txBody>
      </p:sp>
      <p:sp>
        <p:nvSpPr>
          <p:cNvPr id="11" name="">
            <a:extLst xmlns:a="http://schemas.openxmlformats.org/drawingml/2006/main">
              <a:ext uri="{FF2B5EF4-FFF2-40B4-BE49-F238E27FC236}">
                <a16:creationId xmlns:a16="http://schemas.microsoft.com/office/drawing/2014/main" id="{4EF91CBF-A6D7-4538-A100-11B547601FEB}"/>
              </a:ext>
            </a:extLst>
          </p:cNvPr>
          <p:cNvSpPr>
            <a:spLocks xmlns:a="http://schemas.openxmlformats.org/drawingml/2006/main" noGrp="1"/>
          </p:cNvSpPr>
          <p:nvPr/>
        </p:nvSpPr>
        <p:spPr>
          <a:xfrm xmlns:a="http://schemas.openxmlformats.org/drawingml/2006/main">
            <a:off x="7924800" y="275272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36672"/>
                </a:solidFill>
                <a:latin typeface="Arial"/>
                <a:ea typeface="Arial"/>
                <a:cs typeface="Arial"/>
              </a:defRPr>
            </a:pPr>
            <a:r>
              <a:rPr sz="1800" b="0">
                <a:solidFill>
                  <a:srgbClr val="536672"/>
                </a:solidFill>
                <a:latin typeface="Arial"/>
                <a:ea typeface="Arial"/>
                <a:cs typeface="Arial"/>
              </a:rPr>
              <a:t>Write and read back</a:t>
            </a:r>
          </a:p>
        </p:txBody>
      </p:sp>
      <p:sp>
        <p:nvSpPr>
          <p:cNvPr id="12" name="">
            <a:extLst xmlns:a="http://schemas.openxmlformats.org/drawingml/2006/main">
              <a:ext uri="{FF2B5EF4-FFF2-40B4-BE49-F238E27FC236}">
                <a16:creationId xmlns:a16="http://schemas.microsoft.com/office/drawing/2014/main" id="{E985D08C-031D-490E-94D2-431C1EE346AF}"/>
              </a:ext>
            </a:extLst>
          </p:cNvPr>
          <p:cNvSpPr>
            <a:spLocks xmlns:a="http://schemas.openxmlformats.org/drawingml/2006/main" noGrp="1"/>
          </p:cNvSpPr>
          <p:nvPr/>
        </p:nvSpPr>
        <p:spPr>
          <a:xfrm xmlns:a="http://schemas.openxmlformats.org/drawingml/2006/main">
            <a:off x="685800" y="3571875"/>
            <a:ext cx="10820400" cy="0"/>
          </a:xfrm>
          <a:prstGeom xmlns:a="http://schemas.openxmlformats.org/drawingml/2006/main" prst="line">
            <a:avLst/>
          </a:prstGeom>
          <a:noFill xmlns:a="http://schemas.openxmlformats.org/drawingml/2006/main"/>
          <a:ln xmlns:a="http://schemas.openxmlformats.org/drawingml/2006/main" w="14288">
            <a:solidFill>
              <a:srgbClr val="C6D5D2"/>
            </a:solidFill>
          </a:ln>
        </p:spPr>
      </p:sp>
      <p:sp>
        <p:nvSpPr>
          <p:cNvPr id="13" name="">
            <a:extLst xmlns:a="http://schemas.openxmlformats.org/drawingml/2006/main">
              <a:ext uri="{FF2B5EF4-FFF2-40B4-BE49-F238E27FC236}">
                <a16:creationId xmlns:a16="http://schemas.microsoft.com/office/drawing/2014/main" id="{1B9F6CEF-33A9-4022-B07C-4CA4F711361C}"/>
              </a:ext>
            </a:extLst>
          </p:cNvPr>
          <p:cNvSpPr>
            <a:spLocks xmlns:a="http://schemas.openxmlformats.org/drawingml/2006/main" noGrp="1"/>
          </p:cNvSpPr>
          <p:nvPr/>
        </p:nvSpPr>
        <p:spPr>
          <a:xfrm xmlns:a="http://schemas.openxmlformats.org/drawingml/2006/main">
            <a:off x="685800" y="38957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12D40"/>
                </a:solidFill>
                <a:latin typeface="Arial"/>
                <a:ea typeface="Arial"/>
                <a:cs typeface="Arial"/>
              </a:defRPr>
            </a:pPr>
            <a:r>
              <a:rPr sz="2175" b="1">
                <a:solidFill>
                  <a:srgbClr val="112D40"/>
                </a:solidFill>
                <a:latin typeface="Arial"/>
                <a:ea typeface="Arial"/>
                <a:cs typeface="Arial"/>
              </a:rPr>
              <a:t>The agent retains the context</a:t>
            </a:r>
          </a:p>
        </p:txBody>
      </p:sp>
      <p:sp>
        <p:nvSpPr>
          <p:cNvPr id="14" name="">
            <a:extLst xmlns:a="http://schemas.openxmlformats.org/drawingml/2006/main">
              <a:ext uri="{FF2B5EF4-FFF2-40B4-BE49-F238E27FC236}">
                <a16:creationId xmlns:a16="http://schemas.microsoft.com/office/drawing/2014/main" id="{5BE3A6B4-6028-44C3-9464-7C2106D02D82}"/>
              </a:ext>
            </a:extLst>
          </p:cNvPr>
          <p:cNvSpPr>
            <a:spLocks xmlns:a="http://schemas.openxmlformats.org/drawingml/2006/main" noGrp="1"/>
          </p:cNvSpPr>
          <p:nvPr/>
        </p:nvSpPr>
        <p:spPr>
          <a:xfrm xmlns:a="http://schemas.openxmlformats.org/drawingml/2006/main">
            <a:off x="685800" y="4467225"/>
            <a:ext cx="433387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43D4A"/>
                </a:solidFill>
                <a:latin typeface="Arial"/>
                <a:ea typeface="Arial"/>
                <a:cs typeface="Arial"/>
              </a:defRPr>
            </a:pPr>
            <a:r>
              <a:rPr sz="2100" b="0">
                <a:solidFill>
                  <a:srgbClr val="243D4A"/>
                </a:solidFill>
                <a:latin typeface="Arial"/>
                <a:ea typeface="Arial"/>
                <a:cs typeface="Arial"/>
              </a:rPr>
              <a:t>Verifiable facts</a:t>
            </a:r>
          </a:p>
          <a:p xmlns:a="http://schemas.openxmlformats.org/drawingml/2006/main">
            <a:pPr>
              <a:buNone/>
              <a:defRPr sz="2100" b="0">
                <a:solidFill>
                  <a:srgbClr val="243D4A"/>
                </a:solidFill>
                <a:latin typeface="Arial"/>
                <a:ea typeface="Arial"/>
                <a:cs typeface="Arial"/>
              </a:defRPr>
            </a:pPr>
            <a:r>
              <a:rPr sz="2100" b="0">
                <a:solidFill>
                  <a:srgbClr val="243D4A"/>
                </a:solidFill>
                <a:latin typeface="Arial"/>
                <a:ea typeface="Arial"/>
                <a:cs typeface="Arial"/>
              </a:rPr>
              <a:t>Customer statement</a:t>
            </a:r>
          </a:p>
          <a:p xmlns:a="http://schemas.openxmlformats.org/drawingml/2006/main">
            <a:pPr>
              <a:buNone/>
              <a:defRPr sz="2100" b="0">
                <a:solidFill>
                  <a:srgbClr val="243D4A"/>
                </a:solidFill>
                <a:latin typeface="Arial"/>
                <a:ea typeface="Arial"/>
                <a:cs typeface="Arial"/>
              </a:defRPr>
            </a:pPr>
            <a:r>
              <a:rPr sz="2100" b="0">
                <a:solidFill>
                  <a:srgbClr val="243D4A"/>
                </a:solidFill>
                <a:latin typeface="Arial"/>
                <a:ea typeface="Arial"/>
                <a:cs typeface="Arial"/>
              </a:rPr>
              <a:t>Unanswered questions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30f02ea0f714602"/>
          <a:stretch xmlns:a="http://schemas.openxmlformats.org/drawingml/2006/main"/>
        </p:blipFill>
        <p:spPr>
          <a:xfrm xmlns:a="http://schemas.openxmlformats.org/drawingml/2006/main">
            <a:off x="6425142" y="3829050"/>
            <a:ext cx="3894667" cy="2190750"/>
          </a:xfrm>
          <a:prstGeom xmlns:a="http://schemas.openxmlformats.org/drawingml/2006/main" prst="rect">
            <a:avLst/>
          </a:prstGeom>
        </p:spPr>
      </p:pic>
    </p:spTree>
    <p:extLst>
      <p:ext uri="{BB962C8B-B14F-4D97-AF65-F5344CB8AC3E}">
        <p14:creationId xmlns:p14="http://schemas.microsoft.com/office/powerpoint/2010/main" val="8262690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D806D43-F4A7-4C00-872B-B7E0A2B36F77}"/>
              </a:ext>
            </a:extLst>
          </p:cNvPr>
          <p:cNvSpPr>
            <a:spLocks xmlns:a="http://schemas.openxmlformats.org/drawingml/2006/main" noGrp="1"/>
          </p:cNvSpPr>
          <p:nvPr/>
        </p:nvSpPr>
        <p:spPr>
          <a:xfrm xmlns:a="http://schemas.openxmlformats.org/drawingml/2006/main">
            <a:off x="685800" y="55245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12D40"/>
                </a:solidFill>
                <a:latin typeface="Arial"/>
                <a:ea typeface="Arial"/>
                <a:cs typeface="Arial"/>
              </a:defRPr>
            </a:pPr>
            <a:r>
              <a:rPr sz="3300" b="1">
                <a:solidFill>
                  <a:srgbClr val="112D40"/>
                </a:solidFill>
                <a:latin typeface="Arial"/>
                <a:ea typeface="Arial"/>
                <a:cs typeface="Arial"/>
              </a:rPr>
              <a:t>Implemented architecture</a:t>
            </a:r>
          </a:p>
        </p:txBody>
      </p:sp>
      <p:sp>
        <p:nvSpPr>
          <p:cNvPr id="2" name="">
            <a:extLst xmlns:a="http://schemas.openxmlformats.org/drawingml/2006/main">
              <a:ext uri="{FF2B5EF4-FFF2-40B4-BE49-F238E27FC236}">
                <a16:creationId xmlns:a16="http://schemas.microsoft.com/office/drawing/2014/main" id="{245A55FD-6239-4B76-A043-9FB208421114}"/>
              </a:ext>
            </a:extLst>
          </p:cNvPr>
          <p:cNvSpPr>
            <a:spLocks xmlns:a="http://schemas.openxmlformats.org/drawingml/2006/main" noGrp="1"/>
          </p:cNvSpPr>
          <p:nvPr/>
        </p:nvSpPr>
        <p:spPr>
          <a:xfrm xmlns:a="http://schemas.openxmlformats.org/drawingml/2006/main">
            <a:off x="685800" y="63436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36672"/>
                </a:solidFill>
                <a:latin typeface="Arial"/>
                <a:ea typeface="Arial"/>
                <a:cs typeface="Arial"/>
              </a:defRPr>
            </a:pPr>
            <a:r>
              <a:rPr sz="1200" b="0">
                <a:solidFill>
                  <a:srgbClr val="536672"/>
                </a:solidFill>
                <a:latin typeface="Arial"/>
                <a:ea typeface="Arial"/>
                <a:cs typeface="Arial"/>
              </a:rPr>
              <a:t>Sandbox. Team-created demo data. Request intake for human review.</a:t>
            </a:r>
          </a:p>
        </p:txBody>
      </p:sp>
      <p:sp>
        <p:nvSpPr>
          <p:cNvPr id="3" name="">
            <a:extLst xmlns:a="http://schemas.openxmlformats.org/drawingml/2006/main">
              <a:ext uri="{FF2B5EF4-FFF2-40B4-BE49-F238E27FC236}">
                <a16:creationId xmlns:a16="http://schemas.microsoft.com/office/drawing/2014/main" id="{66152C7D-AA80-4E93-B41E-C37DDCC37EA4}"/>
              </a:ext>
            </a:extLst>
          </p:cNvPr>
          <p:cNvSpPr>
            <a:spLocks xmlns:a="http://schemas.openxmlformats.org/drawingml/2006/main" noGrp="1"/>
          </p:cNvSpPr>
          <p:nvPr/>
        </p:nvSpPr>
        <p:spPr>
          <a:xfrm xmlns:a="http://schemas.openxmlformats.org/drawingml/2006/main">
            <a:off x="685800" y="1809750"/>
            <a:ext cx="2895600" cy="1143000"/>
          </a:xfrm>
          <a:prstGeom xmlns:a="http://schemas.openxmlformats.org/drawingml/2006/main" prst="rect">
            <a:avLst/>
          </a:prstGeom>
          <a:solidFill xmlns:a="http://schemas.openxmlformats.org/drawingml/2006/main">
            <a:srgbClr val="EAF3F0"/>
          </a:solidFill>
          <a:ln xmlns:a="http://schemas.openxmlformats.org/drawingml/2006/main" w="9525">
            <a:solidFill>
              <a:srgbClr val="C6D5D2"/>
            </a:solidFill>
          </a:ln>
        </p:spPr>
        <p:txBody>
          <a:bodyPr xmlns:a="http://schemas.openxmlformats.org/drawingml/2006/main" lIns="142875" tIns="95250" rIns="142875" bIns="95250" anchor="ctr">
            <a:noAutofit/>
          </a:bodyPr>
          <a:lstStyle xmlns:a="http://schemas.openxmlformats.org/drawingml/2006/main"/>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ES/PT client</a:t>
            </a:r>
          </a:p>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React 19 + TypeScript</a:t>
            </a:r>
          </a:p>
        </p:txBody>
      </p:sp>
      <p:sp>
        <p:nvSpPr>
          <p:cNvPr id="4" name="">
            <a:extLst xmlns:a="http://schemas.openxmlformats.org/drawingml/2006/main">
              <a:ext uri="{FF2B5EF4-FFF2-40B4-BE49-F238E27FC236}">
                <a16:creationId xmlns:a16="http://schemas.microsoft.com/office/drawing/2014/main" id="{29C0FBDA-C6FB-408B-9C7A-4F2AEF43D814}"/>
              </a:ext>
            </a:extLst>
          </p:cNvPr>
          <p:cNvSpPr>
            <a:spLocks xmlns:a="http://schemas.openxmlformats.org/drawingml/2006/main" noGrp="1"/>
          </p:cNvSpPr>
          <p:nvPr/>
        </p:nvSpPr>
        <p:spPr>
          <a:xfrm xmlns:a="http://schemas.openxmlformats.org/drawingml/2006/main">
            <a:off x="4648200" y="1809750"/>
            <a:ext cx="2895600" cy="1143000"/>
          </a:xfrm>
          <a:prstGeom xmlns:a="http://schemas.openxmlformats.org/drawingml/2006/main" prst="rect">
            <a:avLst/>
          </a:prstGeom>
          <a:solidFill xmlns:a="http://schemas.openxmlformats.org/drawingml/2006/main">
            <a:srgbClr val="EAF3F0"/>
          </a:solidFill>
          <a:ln xmlns:a="http://schemas.openxmlformats.org/drawingml/2006/main" w="9525">
            <a:solidFill>
              <a:srgbClr val="C6D5D2"/>
            </a:solidFill>
          </a:ln>
        </p:spPr>
        <p:txBody>
          <a:bodyPr xmlns:a="http://schemas.openxmlformats.org/drawingml/2006/main" lIns="142875" tIns="95250" rIns="142875" bIns="95250" anchor="ctr">
            <a:noAutofit/>
          </a:bodyPr>
          <a:lstStyle xmlns:a="http://schemas.openxmlformats.org/drawingml/2006/main"/>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TF-IDF + logistic regression</a:t>
            </a:r>
          </a:p>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Inference in Worker</a:t>
            </a:r>
          </a:p>
        </p:txBody>
      </p:sp>
      <p:sp>
        <p:nvSpPr>
          <p:cNvPr id="5" name="">
            <a:extLst xmlns:a="http://schemas.openxmlformats.org/drawingml/2006/main">
              <a:ext uri="{FF2B5EF4-FFF2-40B4-BE49-F238E27FC236}">
                <a16:creationId xmlns:a16="http://schemas.microsoft.com/office/drawing/2014/main" id="{01478DDC-86F6-40D9-8082-140DBE80C409}"/>
              </a:ext>
            </a:extLst>
          </p:cNvPr>
          <p:cNvSpPr>
            <a:spLocks xmlns:a="http://schemas.openxmlformats.org/drawingml/2006/main" noGrp="1"/>
          </p:cNvSpPr>
          <p:nvPr/>
        </p:nvSpPr>
        <p:spPr>
          <a:xfrm xmlns:a="http://schemas.openxmlformats.org/drawingml/2006/main">
            <a:off x="8610600" y="1809750"/>
            <a:ext cx="2895600" cy="1143000"/>
          </a:xfrm>
          <a:prstGeom xmlns:a="http://schemas.openxmlformats.org/drawingml/2006/main" prst="rect">
            <a:avLst/>
          </a:prstGeom>
          <a:solidFill xmlns:a="http://schemas.openxmlformats.org/drawingml/2006/main">
            <a:srgbClr val="EAF3F0"/>
          </a:solidFill>
          <a:ln xmlns:a="http://schemas.openxmlformats.org/drawingml/2006/main" w="9525">
            <a:solidFill>
              <a:srgbClr val="C6D5D2"/>
            </a:solidFill>
          </a:ln>
        </p:spPr>
        <p:txBody>
          <a:bodyPr xmlns:a="http://schemas.openxmlformats.org/drawingml/2006/main" lIns="142875" tIns="95250" rIns="142875" bIns="95250" anchor="ctr">
            <a:noAutofit/>
          </a:bodyPr>
          <a:lstStyle xmlns:a="http://schemas.openxmlformats.org/drawingml/2006/main"/>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Cloudflare Worker</a:t>
            </a:r>
          </a:p>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Session, permissions and states</a:t>
            </a:r>
          </a:p>
        </p:txBody>
      </p:sp>
      <p:sp>
        <p:nvSpPr>
          <p:cNvPr id="6" name="">
            <a:extLst xmlns:a="http://schemas.openxmlformats.org/drawingml/2006/main">
              <a:ext uri="{FF2B5EF4-FFF2-40B4-BE49-F238E27FC236}">
                <a16:creationId xmlns:a16="http://schemas.microsoft.com/office/drawing/2014/main" id="{8C435BF4-A4D7-4AEC-92FE-E7A3DAE91391}"/>
              </a:ext>
            </a:extLst>
          </p:cNvPr>
          <p:cNvSpPr>
            <a:spLocks xmlns:a="http://schemas.openxmlformats.org/drawingml/2006/main" noGrp="1"/>
          </p:cNvSpPr>
          <p:nvPr/>
        </p:nvSpPr>
        <p:spPr>
          <a:xfrm xmlns:a="http://schemas.openxmlformats.org/drawingml/2006/main">
            <a:off x="8610600" y="4238625"/>
            <a:ext cx="2895600" cy="1095375"/>
          </a:xfrm>
          <a:prstGeom xmlns:a="http://schemas.openxmlformats.org/drawingml/2006/main" prst="rect">
            <a:avLst/>
          </a:prstGeom>
          <a:solidFill xmlns:a="http://schemas.openxmlformats.org/drawingml/2006/main">
            <a:srgbClr val="EAF3F0"/>
          </a:solidFill>
          <a:ln xmlns:a="http://schemas.openxmlformats.org/drawingml/2006/main" w="9525">
            <a:solidFill>
              <a:srgbClr val="C6D5D2"/>
            </a:solidFill>
          </a:ln>
        </p:spPr>
        <p:txBody>
          <a:bodyPr xmlns:a="http://schemas.openxmlformats.org/drawingml/2006/main" lIns="142875" tIns="95250" rIns="142875" bIns="95250" anchor="ctr">
            <a:noAutofit/>
          </a:bodyPr>
          <a:lstStyle xmlns:a="http://schemas.openxmlformats.org/drawingml/2006/main"/>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D1 / SQLite</a:t>
            </a:r>
          </a:p>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Persistence and audit trail</a:t>
            </a:r>
          </a:p>
        </p:txBody>
      </p:sp>
      <p:sp>
        <p:nvSpPr>
          <p:cNvPr id="7" name="">
            <a:extLst xmlns:a="http://schemas.openxmlformats.org/drawingml/2006/main">
              <a:ext uri="{FF2B5EF4-FFF2-40B4-BE49-F238E27FC236}">
                <a16:creationId xmlns:a16="http://schemas.microsoft.com/office/drawing/2014/main" id="{94FE2421-1EA0-403C-9177-976FAB45432F}"/>
              </a:ext>
            </a:extLst>
          </p:cNvPr>
          <p:cNvSpPr>
            <a:spLocks xmlns:a="http://schemas.openxmlformats.org/drawingml/2006/main" noGrp="1"/>
          </p:cNvSpPr>
          <p:nvPr/>
        </p:nvSpPr>
        <p:spPr>
          <a:xfrm xmlns:a="http://schemas.openxmlformats.org/drawingml/2006/main">
            <a:off x="685800" y="4238625"/>
            <a:ext cx="2895600" cy="1095375"/>
          </a:xfrm>
          <a:prstGeom xmlns:a="http://schemas.openxmlformats.org/drawingml/2006/main" prst="rect">
            <a:avLst/>
          </a:prstGeom>
          <a:solidFill xmlns:a="http://schemas.openxmlformats.org/drawingml/2006/main">
            <a:srgbClr val="EAF3F0"/>
          </a:solidFill>
          <a:ln xmlns:a="http://schemas.openxmlformats.org/drawingml/2006/main" w="9525">
            <a:solidFill>
              <a:srgbClr val="C6D5D2"/>
            </a:solidFill>
          </a:ln>
        </p:spPr>
        <p:txBody>
          <a:bodyPr xmlns:a="http://schemas.openxmlformats.org/drawingml/2006/main" lIns="142875" tIns="95250" rIns="142875" bIns="95250" anchor="ctr">
            <a:noAutofit/>
          </a:bodyPr>
          <a:lstStyle xmlns:a="http://schemas.openxmlformats.org/drawingml/2006/main"/>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Agent view</a:t>
            </a:r>
          </a:p>
          <a:p xmlns:a="http://schemas.openxmlformats.org/drawingml/2006/main">
            <a:pPr algn="ctr">
              <a:buNone/>
              <a:defRPr sz="1875" b="0">
                <a:solidFill>
                  <a:srgbClr val="112D40"/>
                </a:solidFill>
                <a:latin typeface="Arial"/>
                <a:ea typeface="Arial"/>
                <a:cs typeface="Arial"/>
              </a:defRPr>
            </a:pPr>
            <a:r>
              <a:rPr sz="1875" b="0">
                <a:solidFill>
                  <a:srgbClr val="112D40"/>
                </a:solidFill>
                <a:latin typeface="Arial"/>
                <a:ea typeface="Arial"/>
                <a:cs typeface="Arial"/>
              </a:rPr>
              <a:t>Case file and review</a:t>
            </a:r>
          </a:p>
        </p:txBody>
      </p:sp>
      <p:cxnSp>
        <p:nvCxnSpPr>
          <p:cNvPr id="54" name=""/>
          <p:cNvCxnSpPr>
            <a:stCxn xmlns:a="http://schemas.openxmlformats.org/drawingml/2006/main" id="3" idx="3"/>
            <a:endCxn xmlns:a="http://schemas.openxmlformats.org/drawingml/2006/main" id="4" idx="1"/>
          </p:cNvCxnSpPr>
          <p:nvPr/>
        </p:nvCxnSpPr>
        <p:spPr>
          <a:xfrm xmlns:a="http://schemas.openxmlformats.org/drawingml/2006/main">
            <a:off x="3581400" y="2381250"/>
            <a:ext cx="1066800" cy="0"/>
          </a:xfrm>
          <a:prstGeom xmlns:a="http://schemas.openxmlformats.org/drawingml/2006/main" prst="straightConnector1">
            <a:avLst/>
          </a:prstGeom>
          <a:ln xmlns:a="http://schemas.openxmlformats.org/drawingml/2006/main" w="19050">
            <a:solidFill>
              <a:srgbClr val="33917B"/>
            </a:solidFill>
            <a:tailEnd type="triangle" w="sm" len="sm"/>
          </a:ln>
        </p:spPr>
      </p:cxnSp>
      <p:cxnSp>
        <p:nvCxnSpPr>
          <p:cNvPr id="55" name=""/>
          <p:cNvCxnSpPr>
            <a:stCxn xmlns:a="http://schemas.openxmlformats.org/drawingml/2006/main" id="4" idx="3"/>
            <a:endCxn xmlns:a="http://schemas.openxmlformats.org/drawingml/2006/main" id="5" idx="1"/>
          </p:cNvCxnSpPr>
          <p:nvPr/>
        </p:nvCxnSpPr>
        <p:spPr>
          <a:xfrm xmlns:a="http://schemas.openxmlformats.org/drawingml/2006/main">
            <a:off x="7543800" y="2381250"/>
            <a:ext cx="1066800" cy="0"/>
          </a:xfrm>
          <a:prstGeom xmlns:a="http://schemas.openxmlformats.org/drawingml/2006/main" prst="straightConnector1">
            <a:avLst/>
          </a:prstGeom>
          <a:ln xmlns:a="http://schemas.openxmlformats.org/drawingml/2006/main" w="19050">
            <a:solidFill>
              <a:srgbClr val="33917B"/>
            </a:solidFill>
            <a:tailEnd type="triangle" w="sm" len="sm"/>
          </a:ln>
        </p:spPr>
      </p:cxnSp>
      <p:cxnSp>
        <p:nvCxnSpPr>
          <p:cNvPr id="56" name=""/>
          <p:cNvCxnSpPr>
            <a:stCxn xmlns:a="http://schemas.openxmlformats.org/drawingml/2006/main" id="5" idx="2"/>
            <a:endCxn xmlns:a="http://schemas.openxmlformats.org/drawingml/2006/main" id="6" idx="0"/>
          </p:cNvCxnSpPr>
          <p:nvPr/>
        </p:nvCxnSpPr>
        <p:spPr>
          <a:xfrm xmlns:a="http://schemas.openxmlformats.org/drawingml/2006/main">
            <a:off x="10058400" y="2952750"/>
            <a:ext cx="0" cy="1285875"/>
          </a:xfrm>
          <a:prstGeom xmlns:a="http://schemas.openxmlformats.org/drawingml/2006/main" prst="straightConnector1">
            <a:avLst/>
          </a:prstGeom>
          <a:ln xmlns:a="http://schemas.openxmlformats.org/drawingml/2006/main" w="19050">
            <a:solidFill>
              <a:srgbClr val="33917B"/>
            </a:solidFill>
            <a:tailEnd type="triangle" w="sm" len="sm"/>
          </a:ln>
        </p:spPr>
      </p:cxnSp>
      <p:cxnSp>
        <p:nvCxnSpPr>
          <p:cNvPr id="57" name=""/>
          <p:cNvCxnSpPr>
            <a:stCxn xmlns:a="http://schemas.openxmlformats.org/drawingml/2006/main" id="6" idx="1"/>
            <a:endCxn xmlns:a="http://schemas.openxmlformats.org/drawingml/2006/main" id="7" idx="3"/>
          </p:cNvCxnSpPr>
          <p:nvPr/>
        </p:nvCxnSpPr>
        <p:spPr>
          <a:xfrm xmlns:a="http://schemas.openxmlformats.org/drawingml/2006/main" flipH="1">
            <a:off x="3581400" y="4786313"/>
            <a:ext cx="5029200" cy="0"/>
          </a:xfrm>
          <a:prstGeom xmlns:a="http://schemas.openxmlformats.org/drawingml/2006/main" prst="straightConnector1">
            <a:avLst/>
          </a:prstGeom>
          <a:ln xmlns:a="http://schemas.openxmlformats.org/drawingml/2006/main" w="19050">
            <a:solidFill>
              <a:srgbClr val="33917B"/>
            </a:solidFill>
            <a:tailEnd type="triangle" w="sm" len="sm"/>
          </a:ln>
        </p:spPr>
      </p:cxnSp>
      <p:sp>
        <p:nvSpPr>
          <p:cNvPr id="12" name="">
            <a:extLst xmlns:a="http://schemas.openxmlformats.org/drawingml/2006/main">
              <a:ext uri="{FF2B5EF4-FFF2-40B4-BE49-F238E27FC236}">
                <a16:creationId xmlns:a16="http://schemas.microsoft.com/office/drawing/2014/main" id="{9BEFBCA5-C1AB-4D6E-B4B6-302BD50D0E4A}"/>
              </a:ext>
            </a:extLst>
          </p:cNvPr>
          <p:cNvSpPr>
            <a:spLocks xmlns:a="http://schemas.openxmlformats.org/drawingml/2006/main" noGrp="1"/>
          </p:cNvSpPr>
          <p:nvPr/>
        </p:nvSpPr>
        <p:spPr>
          <a:xfrm xmlns:a="http://schemas.openxmlformats.org/drawingml/2006/main">
            <a:off x="4286250" y="3257550"/>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33917B"/>
                </a:solidFill>
                <a:latin typeface="Arial"/>
                <a:ea typeface="Arial"/>
                <a:cs typeface="Arial"/>
              </a:defRPr>
            </a:pPr>
            <a:r>
              <a:rPr sz="1875" b="1">
                <a:solidFill>
                  <a:srgbClr val="33917B"/>
                </a:solidFill>
                <a:latin typeface="Arial"/>
                <a:ea typeface="Arial"/>
                <a:cs typeface="Arial"/>
              </a:rPr>
              <a:t>Versioned consent</a:t>
            </a:r>
          </a:p>
          <a:p xmlns:a="http://schemas.openxmlformats.org/drawingml/2006/main">
            <a:pPr>
              <a:buNone/>
              <a:defRPr sz="1875" b="1">
                <a:solidFill>
                  <a:srgbClr val="33917B"/>
                </a:solidFill>
                <a:latin typeface="Arial"/>
                <a:ea typeface="Arial"/>
                <a:cs typeface="Arial"/>
              </a:defRPr>
            </a:pPr>
            <a:r>
              <a:rPr sz="1875" b="1">
                <a:solidFill>
                  <a:srgbClr val="33917B"/>
                </a:solidFill>
                <a:latin typeface="Arial"/>
                <a:ea typeface="Arial"/>
                <a:cs typeface="Arial"/>
              </a:rPr>
              <a:t>Idempotency and constraints</a:t>
            </a:r>
          </a:p>
          <a:p xmlns:a="http://schemas.openxmlformats.org/drawingml/2006/main">
            <a:pPr>
              <a:buNone/>
              <a:defRPr sz="1875" b="1">
                <a:solidFill>
                  <a:srgbClr val="33917B"/>
                </a:solidFill>
                <a:latin typeface="Arial"/>
                <a:ea typeface="Arial"/>
                <a:cs typeface="Arial"/>
              </a:defRPr>
            </a:pPr>
            <a:r>
              <a:rPr sz="1875" b="1">
                <a:solidFill>
                  <a:srgbClr val="33917B"/>
                </a:solidFill>
                <a:latin typeface="Arial"/>
                <a:ea typeface="Arial"/>
                <a:cs typeface="Arial"/>
              </a:rPr>
              <a:t>Read back before receipt</a:t>
            </a:r>
          </a:p>
        </p:txBody>
      </p:sp>
      <p:sp>
        <p:nvSpPr>
          <p:cNvPr id="13" name="">
            <a:extLst xmlns:a="http://schemas.openxmlformats.org/drawingml/2006/main">
              <a:ext uri="{FF2B5EF4-FFF2-40B4-BE49-F238E27FC236}">
                <a16:creationId xmlns:a16="http://schemas.microsoft.com/office/drawing/2014/main" id="{742A2166-AEDF-4743-941C-977667135DAF}"/>
              </a:ext>
            </a:extLst>
          </p:cNvPr>
          <p:cNvSpPr>
            <a:spLocks xmlns:a="http://schemas.openxmlformats.org/drawingml/2006/main" noGrp="1"/>
          </p:cNvSpPr>
          <p:nvPr/>
        </p:nvSpPr>
        <p:spPr>
          <a:xfrm xmlns:a="http://schemas.openxmlformats.org/drawingml/2006/main">
            <a:off x="685800" y="56673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536672"/>
                </a:solidFill>
                <a:latin typeface="Arial"/>
                <a:ea typeface="Arial"/>
                <a:cs typeface="Arial"/>
              </a:defRPr>
            </a:pPr>
            <a:r>
              <a:rPr sz="1875" b="0">
                <a:solidFill>
                  <a:srgbClr val="536672"/>
                </a:solidFill>
                <a:latin typeface="Arial"/>
                <a:ea typeface="Arial"/>
                <a:cs typeface="Arial"/>
              </a:rPr>
              <a:t>Local intent inference. Total operating cost remains unmeasured.</a:t>
            </a:r>
          </a:p>
        </p:txBody>
      </p:sp>
    </p:spTree>
    <p:extLst>
      <p:ext uri="{BB962C8B-B14F-4D97-AF65-F5344CB8AC3E}">
        <p14:creationId xmlns:p14="http://schemas.microsoft.com/office/powerpoint/2010/main" val="20618113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1BAE03F-5A0D-417E-AB19-3B40B0EA233B}"/>
              </a:ext>
            </a:extLst>
          </p:cNvPr>
          <p:cNvSpPr>
            <a:spLocks xmlns:a="http://schemas.openxmlformats.org/drawingml/2006/main" noGrp="1"/>
          </p:cNvSpPr>
          <p:nvPr/>
        </p:nvSpPr>
        <p:spPr>
          <a:xfrm xmlns:a="http://schemas.openxmlformats.org/drawingml/2006/main">
            <a:off x="685800" y="55245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12D40"/>
                </a:solidFill>
                <a:latin typeface="Arial"/>
                <a:ea typeface="Arial"/>
                <a:cs typeface="Arial"/>
              </a:defRPr>
            </a:pPr>
            <a:r>
              <a:rPr sz="3300" b="1">
                <a:solidFill>
                  <a:srgbClr val="112D40"/>
                </a:solidFill>
                <a:latin typeface="Arial"/>
                <a:ea typeface="Arial"/>
                <a:cs typeface="Arial"/>
              </a:rPr>
              <a:t>Full corpus review exposes limited intent coverage</a:t>
            </a:r>
          </a:p>
        </p:txBody>
      </p:sp>
      <p:sp>
        <p:nvSpPr>
          <p:cNvPr id="2" name="">
            <a:extLst xmlns:a="http://schemas.openxmlformats.org/drawingml/2006/main">
              <a:ext uri="{FF2B5EF4-FFF2-40B4-BE49-F238E27FC236}">
                <a16:creationId xmlns:a16="http://schemas.microsoft.com/office/drawing/2014/main" id="{B002ED03-1E03-4F2C-A0AA-BFFE52D46151}"/>
              </a:ext>
            </a:extLst>
          </p:cNvPr>
          <p:cNvSpPr>
            <a:spLocks xmlns:a="http://schemas.openxmlformats.org/drawingml/2006/main" noGrp="1"/>
          </p:cNvSpPr>
          <p:nvPr/>
        </p:nvSpPr>
        <p:spPr>
          <a:xfrm xmlns:a="http://schemas.openxmlformats.org/drawingml/2006/main">
            <a:off x="685800" y="63436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36672"/>
                </a:solidFill>
                <a:latin typeface="Arial"/>
                <a:ea typeface="Arial"/>
                <a:cs typeface="Arial"/>
              </a:defRPr>
            </a:pPr>
            <a:r>
              <a:rPr sz="1200" b="0">
                <a:solidFill>
                  <a:srgbClr val="536672"/>
                </a:solidFill>
                <a:latin typeface="Arial"/>
                <a:ea typeface="Arial"/>
                <a:cs typeface="Arial"/>
              </a:rPr>
              <a:t>Organizer corpus diagnostics. Repeated rows are not independent customer cases.</a:t>
            </a:r>
          </a:p>
        </p:txBody>
      </p:sp>
      <p:sp>
        <p:nvSpPr>
          <p:cNvPr id="3" name="">
            <a:extLst xmlns:a="http://schemas.openxmlformats.org/drawingml/2006/main">
              <a:ext uri="{FF2B5EF4-FFF2-40B4-BE49-F238E27FC236}">
                <a16:creationId xmlns:a16="http://schemas.microsoft.com/office/drawing/2014/main" id="{2BB38B07-30ED-4567-A57C-A13A34EC5760}"/>
              </a:ext>
            </a:extLst>
          </p:cNvPr>
          <p:cNvSpPr>
            <a:spLocks xmlns:a="http://schemas.openxmlformats.org/drawingml/2006/main" noGrp="1"/>
          </p:cNvSpPr>
          <p:nvPr/>
        </p:nvSpPr>
        <p:spPr>
          <a:xfrm xmlns:a="http://schemas.openxmlformats.org/drawingml/2006/main">
            <a:off x="685800" y="2057400"/>
            <a:ext cx="3371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025" b="1">
                <a:solidFill>
                  <a:srgbClr val="33917B"/>
                </a:solidFill>
                <a:latin typeface="Arial"/>
                <a:ea typeface="Arial"/>
                <a:cs typeface="Arial"/>
              </a:defRPr>
            </a:pPr>
            <a:r>
              <a:rPr sz="5025" b="1">
                <a:solidFill>
                  <a:srgbClr val="33917B"/>
                </a:solidFill>
                <a:latin typeface="Arial"/>
                <a:ea typeface="Arial"/>
                <a:cs typeface="Arial"/>
              </a:rPr>
              <a:t>7,671</a:t>
            </a:r>
          </a:p>
        </p:txBody>
      </p:sp>
      <p:sp>
        <p:nvSpPr>
          <p:cNvPr id="4" name="">
            <a:extLst xmlns:a="http://schemas.openxmlformats.org/drawingml/2006/main">
              <a:ext uri="{FF2B5EF4-FFF2-40B4-BE49-F238E27FC236}">
                <a16:creationId xmlns:a16="http://schemas.microsoft.com/office/drawing/2014/main" id="{98439264-33D5-44D8-9305-6B4C31A1FF56}"/>
              </a:ext>
            </a:extLst>
          </p:cNvPr>
          <p:cNvSpPr>
            <a:spLocks xmlns:a="http://schemas.openxmlformats.org/drawingml/2006/main" noGrp="1"/>
          </p:cNvSpPr>
          <p:nvPr/>
        </p:nvSpPr>
        <p:spPr>
          <a:xfrm xmlns:a="http://schemas.openxmlformats.org/drawingml/2006/main">
            <a:off x="685800" y="3086100"/>
            <a:ext cx="3371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12D40"/>
                </a:solidFill>
                <a:latin typeface="Arial"/>
                <a:ea typeface="Arial"/>
                <a:cs typeface="Arial"/>
              </a:defRPr>
            </a:pPr>
            <a:r>
              <a:rPr sz="2100" b="1">
                <a:solidFill>
                  <a:srgbClr val="112D40"/>
                </a:solidFill>
                <a:latin typeface="Arial"/>
                <a:ea typeface="Arial"/>
                <a:cs typeface="Arial"/>
              </a:rPr>
              <a:t>CSV files inspected</a:t>
            </a:r>
          </a:p>
        </p:txBody>
      </p:sp>
      <p:sp>
        <p:nvSpPr>
          <p:cNvPr id="5" name="">
            <a:extLst xmlns:a="http://schemas.openxmlformats.org/drawingml/2006/main">
              <a:ext uri="{FF2B5EF4-FFF2-40B4-BE49-F238E27FC236}">
                <a16:creationId xmlns:a16="http://schemas.microsoft.com/office/drawing/2014/main" id="{C2035F13-F435-4683-89CD-9CE50B0F6662}"/>
              </a:ext>
            </a:extLst>
          </p:cNvPr>
          <p:cNvSpPr>
            <a:spLocks xmlns:a="http://schemas.openxmlformats.org/drawingml/2006/main" noGrp="1"/>
          </p:cNvSpPr>
          <p:nvPr/>
        </p:nvSpPr>
        <p:spPr>
          <a:xfrm xmlns:a="http://schemas.openxmlformats.org/drawingml/2006/main">
            <a:off x="685800" y="3771900"/>
            <a:ext cx="327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36672"/>
                </a:solidFill>
                <a:latin typeface="Arial"/>
                <a:ea typeface="Arial"/>
                <a:cs typeface="Arial"/>
              </a:defRPr>
            </a:pPr>
            <a:r>
              <a:rPr sz="1950" b="0">
                <a:solidFill>
                  <a:srgbClr val="536672"/>
                </a:solidFill>
                <a:latin typeface="Arial"/>
                <a:ea typeface="Arial"/>
                <a:cs typeface="Arial"/>
              </a:rPr>
              <a:t>13 tables.</a:t>
            </a:r>
          </a:p>
          <a:p xmlns:a="http://schemas.openxmlformats.org/drawingml/2006/main">
            <a:pPr>
              <a:buNone/>
              <a:defRPr sz="1950" b="0">
                <a:solidFill>
                  <a:srgbClr val="536672"/>
                </a:solidFill>
                <a:latin typeface="Arial"/>
                <a:ea typeface="Arial"/>
                <a:cs typeface="Arial"/>
              </a:defRPr>
            </a:pPr>
            <a:r>
              <a:rPr sz="1950" b="0">
                <a:solidFill>
                  <a:srgbClr val="536672"/>
                </a:solidFill>
                <a:latin typeface="Arial"/>
                <a:ea typeface="Arial"/>
                <a:cs typeface="Arial"/>
              </a:rPr>
              <a:t>Source hashes verified.</a:t>
            </a:r>
          </a:p>
        </p:txBody>
      </p:sp>
      <p:sp>
        <p:nvSpPr>
          <p:cNvPr id="6" name="">
            <a:extLst xmlns:a="http://schemas.openxmlformats.org/drawingml/2006/main">
              <a:ext uri="{FF2B5EF4-FFF2-40B4-BE49-F238E27FC236}">
                <a16:creationId xmlns:a16="http://schemas.microsoft.com/office/drawing/2014/main" id="{702513DE-B16E-41FD-B3BE-D415428E83D8}"/>
              </a:ext>
            </a:extLst>
          </p:cNvPr>
          <p:cNvSpPr>
            <a:spLocks xmlns:a="http://schemas.openxmlformats.org/drawingml/2006/main" noGrp="1"/>
          </p:cNvSpPr>
          <p:nvPr/>
        </p:nvSpPr>
        <p:spPr>
          <a:xfrm xmlns:a="http://schemas.openxmlformats.org/drawingml/2006/main">
            <a:off x="4362450" y="2057400"/>
            <a:ext cx="3371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025" b="1">
                <a:solidFill>
                  <a:srgbClr val="33917B"/>
                </a:solidFill>
                <a:latin typeface="Arial"/>
                <a:ea typeface="Arial"/>
                <a:cs typeface="Arial"/>
              </a:defRPr>
            </a:pPr>
            <a:r>
              <a:rPr sz="5025" b="1">
                <a:solidFill>
                  <a:srgbClr val="33917B"/>
                </a:solidFill>
                <a:latin typeface="Arial"/>
                <a:ea typeface="Arial"/>
                <a:cs typeface="Arial"/>
              </a:rPr>
              <a:t>23.5M</a:t>
            </a:r>
          </a:p>
        </p:txBody>
      </p:sp>
      <p:sp>
        <p:nvSpPr>
          <p:cNvPr id="7" name="">
            <a:extLst xmlns:a="http://schemas.openxmlformats.org/drawingml/2006/main">
              <a:ext uri="{FF2B5EF4-FFF2-40B4-BE49-F238E27FC236}">
                <a16:creationId xmlns:a16="http://schemas.microsoft.com/office/drawing/2014/main" id="{B42A608D-9BF2-4AD7-84C7-5C3B90C9E055}"/>
              </a:ext>
            </a:extLst>
          </p:cNvPr>
          <p:cNvSpPr>
            <a:spLocks xmlns:a="http://schemas.openxmlformats.org/drawingml/2006/main" noGrp="1"/>
          </p:cNvSpPr>
          <p:nvPr/>
        </p:nvSpPr>
        <p:spPr>
          <a:xfrm xmlns:a="http://schemas.openxmlformats.org/drawingml/2006/main">
            <a:off x="4362450" y="3086100"/>
            <a:ext cx="3371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12D40"/>
                </a:solidFill>
                <a:latin typeface="Arial"/>
                <a:ea typeface="Arial"/>
                <a:cs typeface="Arial"/>
              </a:defRPr>
            </a:pPr>
            <a:r>
              <a:rPr sz="2100" b="1">
                <a:solidFill>
                  <a:srgbClr val="112D40"/>
                </a:solidFill>
                <a:latin typeface="Arial"/>
                <a:ea typeface="Arial"/>
                <a:cs typeface="Arial"/>
              </a:rPr>
              <a:t>rows across the corpus</a:t>
            </a:r>
          </a:p>
        </p:txBody>
      </p:sp>
      <p:sp>
        <p:nvSpPr>
          <p:cNvPr id="8" name="">
            <a:extLst xmlns:a="http://schemas.openxmlformats.org/drawingml/2006/main">
              <a:ext uri="{FF2B5EF4-FFF2-40B4-BE49-F238E27FC236}">
                <a16:creationId xmlns:a16="http://schemas.microsoft.com/office/drawing/2014/main" id="{EA68F77B-B7D0-45D7-AAA4-2F58D093731E}"/>
              </a:ext>
            </a:extLst>
          </p:cNvPr>
          <p:cNvSpPr>
            <a:spLocks xmlns:a="http://schemas.openxmlformats.org/drawingml/2006/main" noGrp="1"/>
          </p:cNvSpPr>
          <p:nvPr/>
        </p:nvSpPr>
        <p:spPr>
          <a:xfrm xmlns:a="http://schemas.openxmlformats.org/drawingml/2006/main">
            <a:off x="4362450" y="3771900"/>
            <a:ext cx="327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36672"/>
                </a:solidFill>
                <a:latin typeface="Arial"/>
                <a:ea typeface="Arial"/>
                <a:cs typeface="Arial"/>
              </a:defRPr>
            </a:pPr>
            <a:r>
              <a:rPr sz="1950" b="0">
                <a:solidFill>
                  <a:srgbClr val="536672"/>
                </a:solidFill>
                <a:latin typeface="Arial"/>
                <a:ea typeface="Arial"/>
                <a:cs typeface="Arial"/>
              </a:rPr>
              <a:t>Complaints and transcripts:</a:t>
            </a:r>
          </a:p>
          <a:p xmlns:a="http://schemas.openxmlformats.org/drawingml/2006/main">
            <a:pPr>
              <a:buNone/>
              <a:defRPr sz="1950" b="0">
                <a:solidFill>
                  <a:srgbClr val="536672"/>
                </a:solidFill>
                <a:latin typeface="Arial"/>
                <a:ea typeface="Arial"/>
                <a:cs typeface="Arial"/>
              </a:defRPr>
            </a:pPr>
            <a:r>
              <a:rPr sz="1950" b="0">
                <a:solidFill>
                  <a:srgbClr val="536672"/>
                </a:solidFill>
                <a:latin typeface="Arial"/>
                <a:ea typeface="Arial"/>
                <a:cs typeface="Arial"/>
              </a:rPr>
              <a:t>238,416 rows reviewed.</a:t>
            </a:r>
          </a:p>
        </p:txBody>
      </p:sp>
      <p:sp>
        <p:nvSpPr>
          <p:cNvPr id="9" name="">
            <a:extLst xmlns:a="http://schemas.openxmlformats.org/drawingml/2006/main">
              <a:ext uri="{FF2B5EF4-FFF2-40B4-BE49-F238E27FC236}">
                <a16:creationId xmlns:a16="http://schemas.microsoft.com/office/drawing/2014/main" id="{2041A0DD-E084-4088-93A2-997C859260BB}"/>
              </a:ext>
            </a:extLst>
          </p:cNvPr>
          <p:cNvSpPr>
            <a:spLocks xmlns:a="http://schemas.openxmlformats.org/drawingml/2006/main" noGrp="1"/>
          </p:cNvSpPr>
          <p:nvPr/>
        </p:nvSpPr>
        <p:spPr>
          <a:xfrm xmlns:a="http://schemas.openxmlformats.org/drawingml/2006/main">
            <a:off x="8039100" y="2057400"/>
            <a:ext cx="33718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025" b="1">
                <a:solidFill>
                  <a:srgbClr val="112D40"/>
                </a:solidFill>
                <a:latin typeface="Arial"/>
                <a:ea typeface="Arial"/>
                <a:cs typeface="Arial"/>
              </a:defRPr>
            </a:pPr>
            <a:r>
              <a:rPr sz="5025" b="1">
                <a:solidFill>
                  <a:srgbClr val="112D40"/>
                </a:solidFill>
                <a:latin typeface="Arial"/>
                <a:ea typeface="Arial"/>
                <a:cs typeface="Arial"/>
              </a:rPr>
              <a:t>47</a:t>
            </a:r>
          </a:p>
        </p:txBody>
      </p:sp>
      <p:sp>
        <p:nvSpPr>
          <p:cNvPr id="10" name="">
            <a:extLst xmlns:a="http://schemas.openxmlformats.org/drawingml/2006/main">
              <a:ext uri="{FF2B5EF4-FFF2-40B4-BE49-F238E27FC236}">
                <a16:creationId xmlns:a16="http://schemas.microsoft.com/office/drawing/2014/main" id="{3F784F5E-9EC5-412F-AD5A-9402D87B9F68}"/>
              </a:ext>
            </a:extLst>
          </p:cNvPr>
          <p:cNvSpPr>
            <a:spLocks xmlns:a="http://schemas.openxmlformats.org/drawingml/2006/main" noGrp="1"/>
          </p:cNvSpPr>
          <p:nvPr/>
        </p:nvSpPr>
        <p:spPr>
          <a:xfrm xmlns:a="http://schemas.openxmlformats.org/drawingml/2006/main">
            <a:off x="8039100" y="3086100"/>
            <a:ext cx="33718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12D40"/>
                </a:solidFill>
                <a:latin typeface="Arial"/>
                <a:ea typeface="Arial"/>
                <a:cs typeface="Arial"/>
              </a:defRPr>
            </a:pPr>
            <a:r>
              <a:rPr sz="2100" b="1">
                <a:solidFill>
                  <a:srgbClr val="112D40"/>
                </a:solidFill>
                <a:latin typeface="Arial"/>
                <a:ea typeface="Arial"/>
                <a:cs typeface="Arial"/>
              </a:rPr>
              <a:t>distinct customer inputs</a:t>
            </a:r>
          </a:p>
        </p:txBody>
      </p:sp>
      <p:sp>
        <p:nvSpPr>
          <p:cNvPr id="11" name="">
            <a:extLst xmlns:a="http://schemas.openxmlformats.org/drawingml/2006/main">
              <a:ext uri="{FF2B5EF4-FFF2-40B4-BE49-F238E27FC236}">
                <a16:creationId xmlns:a16="http://schemas.microsoft.com/office/drawing/2014/main" id="{DD1450BF-CE41-43CB-9B98-66FAECA20B18}"/>
              </a:ext>
            </a:extLst>
          </p:cNvPr>
          <p:cNvSpPr>
            <a:spLocks xmlns:a="http://schemas.openxmlformats.org/drawingml/2006/main" noGrp="1"/>
          </p:cNvSpPr>
          <p:nvPr/>
        </p:nvSpPr>
        <p:spPr>
          <a:xfrm xmlns:a="http://schemas.openxmlformats.org/drawingml/2006/main">
            <a:off x="8039100" y="3771900"/>
            <a:ext cx="3276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36672"/>
                </a:solidFill>
                <a:latin typeface="Arial"/>
                <a:ea typeface="Arial"/>
                <a:cs typeface="Arial"/>
              </a:defRPr>
            </a:pPr>
            <a:r>
              <a:rPr sz="1950" b="0">
                <a:solidFill>
                  <a:srgbClr val="536672"/>
                </a:solidFill>
                <a:latin typeface="Arial"/>
                <a:ea typeface="Arial"/>
                <a:cs typeface="Arial"/>
              </a:rPr>
              <a:t>Spanish only.</a:t>
            </a:r>
          </a:p>
          <a:p xmlns:a="http://schemas.openxmlformats.org/drawingml/2006/main">
            <a:pPr>
              <a:buNone/>
              <a:defRPr sz="1950" b="0">
                <a:solidFill>
                  <a:srgbClr val="536672"/>
                </a:solidFill>
                <a:latin typeface="Arial"/>
                <a:ea typeface="Arial"/>
                <a:cs typeface="Arial"/>
              </a:defRPr>
            </a:pPr>
            <a:r>
              <a:rPr sz="1950" b="0">
                <a:solidFill>
                  <a:srgbClr val="536672"/>
                </a:solidFill>
                <a:latin typeface="Arial"/>
                <a:ea typeface="Arial"/>
                <a:cs typeface="Arial"/>
              </a:rPr>
              <a:t>Already seen in the sample.</a:t>
            </a:r>
          </a:p>
        </p:txBody>
      </p:sp>
      <p:sp>
        <p:nvSpPr>
          <p:cNvPr id="12" name="">
            <a:extLst xmlns:a="http://schemas.openxmlformats.org/drawingml/2006/main">
              <a:ext uri="{FF2B5EF4-FFF2-40B4-BE49-F238E27FC236}">
                <a16:creationId xmlns:a16="http://schemas.microsoft.com/office/drawing/2014/main" id="{8B7B6C21-A3EA-487F-A716-39EB306EBE22}"/>
              </a:ext>
            </a:extLst>
          </p:cNvPr>
          <p:cNvSpPr>
            <a:spLocks xmlns:a="http://schemas.openxmlformats.org/drawingml/2006/main" noGrp="1"/>
          </p:cNvSpPr>
          <p:nvPr/>
        </p:nvSpPr>
        <p:spPr>
          <a:xfrm xmlns:a="http://schemas.openxmlformats.org/drawingml/2006/main">
            <a:off x="685800" y="5191125"/>
            <a:ext cx="10820400" cy="0"/>
          </a:xfrm>
          <a:prstGeom xmlns:a="http://schemas.openxmlformats.org/drawingml/2006/main" prst="line">
            <a:avLst/>
          </a:prstGeom>
          <a:noFill xmlns:a="http://schemas.openxmlformats.org/drawingml/2006/main"/>
          <a:ln xmlns:a="http://schemas.openxmlformats.org/drawingml/2006/main" w="14288">
            <a:solidFill>
              <a:srgbClr val="C6D5D2"/>
            </a:solidFill>
          </a:ln>
        </p:spPr>
      </p:sp>
      <p:sp>
        <p:nvSpPr>
          <p:cNvPr id="13" name="">
            <a:extLst xmlns:a="http://schemas.openxmlformats.org/drawingml/2006/main">
              <a:ext uri="{FF2B5EF4-FFF2-40B4-BE49-F238E27FC236}">
                <a16:creationId xmlns:a16="http://schemas.microsoft.com/office/drawing/2014/main" id="{0B381AED-5AAA-4F86-9C5F-899722426E56}"/>
              </a:ext>
            </a:extLst>
          </p:cNvPr>
          <p:cNvSpPr>
            <a:spLocks xmlns:a="http://schemas.openxmlformats.org/drawingml/2006/main" noGrp="1"/>
          </p:cNvSpPr>
          <p:nvPr/>
        </p:nvSpPr>
        <p:spPr>
          <a:xfrm xmlns:a="http://schemas.openxmlformats.org/drawingml/2006/main">
            <a:off x="685800" y="54768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243D4A"/>
                </a:solidFill>
                <a:latin typeface="Arial"/>
                <a:ea typeface="Arial"/>
                <a:cs typeface="Arial"/>
              </a:defRPr>
            </a:pPr>
            <a:r>
              <a:rPr sz="1725" b="0">
                <a:solidFill>
                  <a:srgbClr val="243D4A"/>
                </a:solidFill>
                <a:latin typeface="Arial"/>
                <a:ea typeface="Arial"/>
                <a:cs typeface="Arial"/>
              </a:rPr>
              <a:t>Six intent classes lack AI-consensus reference examples. Portuguese has none.</a:t>
            </a:r>
          </a:p>
          <a:p xmlns:a="http://schemas.openxmlformats.org/drawingml/2006/main">
            <a:pPr>
              <a:buNone/>
              <a:defRPr sz="1725" b="0">
                <a:solidFill>
                  <a:srgbClr val="243D4A"/>
                </a:solidFill>
                <a:latin typeface="Arial"/>
                <a:ea typeface="Arial"/>
                <a:cs typeface="Arial"/>
              </a:defRPr>
            </a:pPr>
            <a:r>
              <a:rPr sz="1725" b="0">
                <a:solidFill>
                  <a:srgbClr val="243D4A"/>
                </a:solidFill>
                <a:latin typeface="Arial"/>
                <a:ea typeface="Arial"/>
                <a:cs typeface="Arial"/>
              </a:rPr>
              <a:t>This retrospective diagnostic cannot establish a valid ES/PT benchmark.</a:t>
            </a:r>
          </a:p>
        </p:txBody>
      </p:sp>
    </p:spTree>
    <p:extLst>
      <p:ext uri="{BB962C8B-B14F-4D97-AF65-F5344CB8AC3E}">
        <p14:creationId xmlns:p14="http://schemas.microsoft.com/office/powerpoint/2010/main" val="8891107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04D5EC-1E7E-4DE9-8790-396203AA6D63}"/>
              </a:ext>
            </a:extLst>
          </p:cNvPr>
          <p:cNvSpPr>
            <a:spLocks xmlns:a="http://schemas.openxmlformats.org/drawingml/2006/main" noGrp="1"/>
          </p:cNvSpPr>
          <p:nvPr/>
        </p:nvSpPr>
        <p:spPr>
          <a:xfrm xmlns:a="http://schemas.openxmlformats.org/drawingml/2006/main">
            <a:off x="685800" y="55245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000" b="1">
                <a:solidFill>
                  <a:srgbClr val="112D40"/>
                </a:solidFill>
                <a:latin typeface="Arial"/>
                <a:ea typeface="Arial"/>
                <a:cs typeface="Arial"/>
              </a:defRPr>
            </a:pPr>
            <a:r>
              <a:rPr sz="3000" b="1">
                <a:solidFill>
                  <a:srgbClr val="112D40"/>
                </a:solidFill>
                <a:latin typeface="Arial"/>
                <a:ea typeface="Arial"/>
                <a:cs typeface="Arial"/>
              </a:rPr>
              <a:t>A tested workflow with a conservative model</a:t>
            </a:r>
          </a:p>
        </p:txBody>
      </p:sp>
      <p:sp>
        <p:nvSpPr>
          <p:cNvPr id="2" name="">
            <a:extLst xmlns:a="http://schemas.openxmlformats.org/drawingml/2006/main">
              <a:ext uri="{FF2B5EF4-FFF2-40B4-BE49-F238E27FC236}">
                <a16:creationId xmlns:a16="http://schemas.microsoft.com/office/drawing/2014/main" id="{BE2C67FD-222D-45EA-ABD6-574D20367862}"/>
              </a:ext>
            </a:extLst>
          </p:cNvPr>
          <p:cNvSpPr>
            <a:spLocks xmlns:a="http://schemas.openxmlformats.org/drawingml/2006/main" noGrp="1"/>
          </p:cNvSpPr>
          <p:nvPr/>
        </p:nvSpPr>
        <p:spPr>
          <a:xfrm xmlns:a="http://schemas.openxmlformats.org/drawingml/2006/main">
            <a:off x="685800" y="63436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36672"/>
                </a:solidFill>
                <a:latin typeface="Arial"/>
                <a:ea typeface="Arial"/>
                <a:cs typeface="Arial"/>
              </a:defRPr>
            </a:pPr>
            <a:r>
              <a:rPr sz="1200" b="0">
                <a:solidFill>
                  <a:srgbClr val="536672"/>
                </a:solidFill>
                <a:latin typeface="Arial"/>
                <a:ea typeface="Arial"/>
                <a:cs typeface="Arial"/>
              </a:rPr>
              <a:t>Sandbox. Team-created demo data. Request intake for human review.</a:t>
            </a:r>
          </a:p>
        </p:txBody>
      </p:sp>
      <p:sp>
        <p:nvSpPr>
          <p:cNvPr id="3" name="">
            <a:extLst xmlns:a="http://schemas.openxmlformats.org/drawingml/2006/main">
              <a:ext uri="{FF2B5EF4-FFF2-40B4-BE49-F238E27FC236}">
                <a16:creationId xmlns:a16="http://schemas.microsoft.com/office/drawing/2014/main" id="{A6B6D21D-0B75-44F5-8369-D712128864DB}"/>
              </a:ext>
            </a:extLst>
          </p:cNvPr>
          <p:cNvSpPr>
            <a:spLocks xmlns:a="http://schemas.openxmlformats.org/drawingml/2006/main" noGrp="1"/>
          </p:cNvSpPr>
          <p:nvPr/>
        </p:nvSpPr>
        <p:spPr>
          <a:xfrm xmlns:a="http://schemas.openxmlformats.org/drawingml/2006/main">
            <a:off x="685800" y="1571625"/>
            <a:ext cx="605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12D40"/>
                </a:solidFill>
                <a:latin typeface="Arial"/>
                <a:ea typeface="Arial"/>
                <a:cs typeface="Arial"/>
              </a:defRPr>
            </a:pPr>
            <a:r>
              <a:rPr sz="2175" b="1">
                <a:solidFill>
                  <a:srgbClr val="112D40"/>
                </a:solidFill>
                <a:latin typeface="Arial"/>
                <a:ea typeface="Arial"/>
                <a:cs typeface="Arial"/>
              </a:rPr>
              <a:t>Exploratory AI reference: 25 texts</a:t>
            </a:r>
          </a:p>
        </p:txBody>
      </p:sp>
      <p:graphicFrame>
        <p:nvGraphicFramePr>
          <p:cNvPr id="17" name=""/>
          <p:cNvGraphicFramePr/>
          <p:nvPr/>
        </p:nvGraphicFramePr>
        <p:xfrm>
          <a:off xmlns:a="http://schemas.openxmlformats.org/drawingml/2006/main" x="685800" y="2209800"/>
          <a:ext xmlns:a="http://schemas.openxmlformats.org/drawingml/2006/main" cx="5886450" cy="1943100"/>
        </p:xfrm>
        <a:graphic xmlns:a="http://schemas.openxmlformats.org/drawingml/2006/main">
          <a:graphicData uri="http://schemas.openxmlformats.org/drawingml/2006/table">
            <a:tbl>
              <a:tblPr/>
              <a:tblGrid>
                <a:gridCol w="3905250"/>
                <a:gridCol w="1981200"/>
              </a:tblGrid>
              <a:tr h="647700">
                <a:tc>
                  <a:txBody>
                    <a:bodyPr lIns="171450" tIns="114300" rIns="133350" bIns="114300"/>
                    <a:lstStyle/>
                    <a:p>
                      <a:r>
                        <a:rPr sz="2100" b="1">
                          <a:solidFill>
                            <a:srgbClr val="FFFFFF"/>
                          </a:solidFill>
                          <a:latin typeface="Arial"/>
                          <a:ea typeface="Arial"/>
                          <a:cs typeface="Arial"/>
                        </a:rPr>
                        <a:t>Method</a:t>
                      </a:r>
                    </a:p>
                  </a:txBody>
                  <a:tcPr marL="91440" marR="91440" marT="45720" marB="45720" anchor="ctr">
                    <a:solidFill>
                      <a:srgbClr val="112D40"/>
                    </a:solidFill>
                  </a:tcPr>
                </a:tc>
                <a:tc>
                  <a:txBody>
                    <a:bodyPr lIns="171450" tIns="114300" rIns="133350" bIns="114300"/>
                    <a:lstStyle/>
                    <a:p>
                      <a:r>
                        <a:rPr sz="2100" b="1">
                          <a:solidFill>
                            <a:srgbClr val="FFFFFF"/>
                          </a:solidFill>
                          <a:latin typeface="Arial"/>
                          <a:ea typeface="Arial"/>
                          <a:cs typeface="Arial"/>
                        </a:rPr>
                        <a:t>Matches</a:t>
                      </a:r>
                    </a:p>
                  </a:txBody>
                  <a:tcPr marL="91440" marR="91440" marT="45720" marB="45720" anchor="ctr">
                    <a:solidFill>
                      <a:srgbClr val="112D40"/>
                    </a:solidFill>
                  </a:tcPr>
                </a:tc>
              </a:tr>
              <a:tr h="647700">
                <a:tc>
                  <a:txBody>
                    <a:bodyPr lIns="171450" tIns="114300" rIns="133350" bIns="114300"/>
                    <a:lstStyle/>
                    <a:p>
                      <a:r>
                        <a:rPr sz="1950" b="0">
                          <a:solidFill>
                            <a:srgbClr val="112D40"/>
                          </a:solidFill>
                          <a:latin typeface="Arial"/>
                          <a:ea typeface="Arial"/>
                          <a:cs typeface="Arial"/>
                        </a:rPr>
                        <a:t>Rules baseline</a:t>
                      </a:r>
                    </a:p>
                  </a:txBody>
                  <a:tcPr marL="91440" marR="91440" marT="45720" marB="45720" anchor="ctr">
                    <a:solidFill>
                      <a:srgbClr val="F3F6F5"/>
                    </a:solidFill>
                  </a:tcPr>
                </a:tc>
                <a:tc>
                  <a:txBody>
                    <a:bodyPr lIns="171450" tIns="114300" rIns="133350" bIns="114300"/>
                    <a:lstStyle/>
                    <a:p>
                      <a:r>
                        <a:rPr sz="1950" b="0">
                          <a:solidFill>
                            <a:srgbClr val="112D40"/>
                          </a:solidFill>
                          <a:latin typeface="Arial"/>
                          <a:ea typeface="Arial"/>
                          <a:cs typeface="Arial"/>
                        </a:rPr>
                        <a:t>25/25</a:t>
                      </a:r>
                    </a:p>
                  </a:txBody>
                  <a:tcPr marL="91440" marR="91440" marT="45720" marB="45720" anchor="ctr">
                    <a:solidFill>
                      <a:srgbClr val="F3F6F5"/>
                    </a:solidFill>
                  </a:tcPr>
                </a:tc>
              </a:tr>
              <a:tr h="647700">
                <a:tc>
                  <a:txBody>
                    <a:bodyPr lIns="171450" tIns="114300" rIns="133350" bIns="114300"/>
                    <a:lstStyle/>
                    <a:p>
                      <a:r>
                        <a:rPr sz="1950" b="0">
                          <a:solidFill>
                            <a:srgbClr val="112D40"/>
                          </a:solidFill>
                          <a:latin typeface="Arial"/>
                          <a:ea typeface="Arial"/>
                          <a:cs typeface="Arial"/>
                        </a:rPr>
                        <a:t>Frozen model v2</a:t>
                      </a:r>
                    </a:p>
                  </a:txBody>
                  <a:tcPr marL="91440" marR="91440" marT="45720" marB="45720" anchor="ctr">
                    <a:solidFill>
                      <a:srgbClr val="EAF3F0"/>
                    </a:solidFill>
                  </a:tcPr>
                </a:tc>
                <a:tc>
                  <a:txBody>
                    <a:bodyPr lIns="171450" tIns="114300" rIns="133350" bIns="114300"/>
                    <a:lstStyle/>
                    <a:p>
                      <a:r>
                        <a:rPr sz="1950" b="0">
                          <a:solidFill>
                            <a:srgbClr val="112D40"/>
                          </a:solidFill>
                          <a:latin typeface="Arial"/>
                          <a:ea typeface="Arial"/>
                          <a:cs typeface="Arial"/>
                        </a:rPr>
                        <a:t>21/25</a:t>
                      </a:r>
                    </a:p>
                  </a:txBody>
                  <a:tcPr marL="91440" marR="91440" marT="45720" marB="45720" anchor="ctr">
                    <a:solidFill>
                      <a:srgbClr val="EAF3F0"/>
                    </a:solidFill>
                  </a:tcPr>
                </a:tc>
              </a:tr>
            </a:tbl>
          </a:graphicData>
        </a:graphic>
      </p:graphicFrame>
      <p:sp>
        <p:nvSpPr>
          <p:cNvPr id="5" name="">
            <a:extLst xmlns:a="http://schemas.openxmlformats.org/drawingml/2006/main">
              <a:ext uri="{FF2B5EF4-FFF2-40B4-BE49-F238E27FC236}">
                <a16:creationId xmlns:a16="http://schemas.microsoft.com/office/drawing/2014/main" id="{99390799-CF7C-430E-A54B-4D853BD8B6FB}"/>
              </a:ext>
            </a:extLst>
          </p:cNvPr>
          <p:cNvSpPr>
            <a:spLocks xmlns:a="http://schemas.openxmlformats.org/drawingml/2006/main" noGrp="1"/>
          </p:cNvSpPr>
          <p:nvPr/>
        </p:nvSpPr>
        <p:spPr>
          <a:xfrm xmlns:a="http://schemas.openxmlformats.org/drawingml/2006/main">
            <a:off x="685800" y="4448175"/>
            <a:ext cx="60864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36672"/>
                </a:solidFill>
                <a:latin typeface="Arial"/>
                <a:ea typeface="Arial"/>
                <a:cs typeface="Arial"/>
              </a:defRPr>
            </a:pPr>
            <a:r>
              <a:rPr sz="1800" b="0">
                <a:solidFill>
                  <a:srgbClr val="536672"/>
                </a:solidFill>
                <a:latin typeface="Arial"/>
                <a:ea typeface="Arial"/>
                <a:cs typeface="Arial"/>
              </a:rPr>
              <a:t>AI agreement is not ground truth.</a:t>
            </a:r>
          </a:p>
          <a:p xmlns:a="http://schemas.openxmlformats.org/drawingml/2006/main">
            <a:pPr>
              <a:buNone/>
              <a:defRPr sz="1800" b="0">
                <a:solidFill>
                  <a:srgbClr val="536672"/>
                </a:solidFill>
                <a:latin typeface="Arial"/>
                <a:ea typeface="Arial"/>
                <a:cs typeface="Arial"/>
              </a:defRPr>
            </a:pPr>
            <a:r>
              <a:rPr sz="1800" b="0">
                <a:solidFill>
                  <a:srgbClr val="536672"/>
                </a:solidFill>
                <a:latin typeface="Arial"/>
                <a:ea typeface="Arial"/>
                <a:cs typeface="Arial"/>
              </a:rPr>
              <a:t>Six classes have no reference support.</a:t>
            </a:r>
          </a:p>
        </p:txBody>
      </p:sp>
      <p:sp>
        <p:nvSpPr>
          <p:cNvPr id="6" name="">
            <a:extLst xmlns:a="http://schemas.openxmlformats.org/drawingml/2006/main">
              <a:ext uri="{FF2B5EF4-FFF2-40B4-BE49-F238E27FC236}">
                <a16:creationId xmlns:a16="http://schemas.microsoft.com/office/drawing/2014/main" id="{4294F631-E94E-4C02-A0DA-785922926973}"/>
              </a:ext>
            </a:extLst>
          </p:cNvPr>
          <p:cNvSpPr>
            <a:spLocks xmlns:a="http://schemas.openxmlformats.org/drawingml/2006/main" noGrp="1"/>
          </p:cNvSpPr>
          <p:nvPr/>
        </p:nvSpPr>
        <p:spPr>
          <a:xfrm xmlns:a="http://schemas.openxmlformats.org/drawingml/2006/main">
            <a:off x="7524750" y="1933575"/>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250" b="1">
                <a:solidFill>
                  <a:srgbClr val="33917B"/>
                </a:solidFill>
                <a:latin typeface="Arial"/>
                <a:ea typeface="Arial"/>
                <a:cs typeface="Arial"/>
              </a:defRPr>
            </a:pPr>
            <a:r>
              <a:rPr sz="5250" b="1">
                <a:solidFill>
                  <a:srgbClr val="33917B"/>
                </a:solidFill>
                <a:latin typeface="Arial"/>
                <a:ea typeface="Arial"/>
                <a:cs typeface="Arial"/>
              </a:rPr>
              <a:t>15/15</a:t>
            </a:r>
          </a:p>
        </p:txBody>
      </p:sp>
      <p:sp>
        <p:nvSpPr>
          <p:cNvPr id="7" name="">
            <a:extLst xmlns:a="http://schemas.openxmlformats.org/drawingml/2006/main">
              <a:ext uri="{FF2B5EF4-FFF2-40B4-BE49-F238E27FC236}">
                <a16:creationId xmlns:a16="http://schemas.microsoft.com/office/drawing/2014/main" id="{9D76BF69-E236-413E-8AC8-A96D77A8C7FE}"/>
              </a:ext>
            </a:extLst>
          </p:cNvPr>
          <p:cNvSpPr>
            <a:spLocks xmlns:a="http://schemas.openxmlformats.org/drawingml/2006/main" noGrp="1"/>
          </p:cNvSpPr>
          <p:nvPr/>
        </p:nvSpPr>
        <p:spPr>
          <a:xfrm xmlns:a="http://schemas.openxmlformats.org/drawingml/2006/main">
            <a:off x="7524750" y="2943225"/>
            <a:ext cx="3752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12D40"/>
                </a:solidFill>
                <a:latin typeface="Arial"/>
                <a:ea typeface="Arial"/>
                <a:cs typeface="Arial"/>
              </a:defRPr>
            </a:pPr>
            <a:r>
              <a:rPr sz="2100" b="1">
                <a:solidFill>
                  <a:srgbClr val="112D40"/>
                </a:solidFill>
                <a:latin typeface="Arial"/>
                <a:ea typeface="Arial"/>
                <a:cs typeface="Arial"/>
              </a:rPr>
              <a:t>prepared API sequences</a:t>
            </a:r>
          </a:p>
        </p:txBody>
      </p:sp>
      <p:sp>
        <p:nvSpPr>
          <p:cNvPr id="8" name="">
            <a:extLst xmlns:a="http://schemas.openxmlformats.org/drawingml/2006/main">
              <a:ext uri="{FF2B5EF4-FFF2-40B4-BE49-F238E27FC236}">
                <a16:creationId xmlns:a16="http://schemas.microsoft.com/office/drawing/2014/main" id="{0F6C3DF2-0B74-478D-8AC8-58633E4C101F}"/>
              </a:ext>
            </a:extLst>
          </p:cNvPr>
          <p:cNvSpPr>
            <a:spLocks xmlns:a="http://schemas.openxmlformats.org/drawingml/2006/main" noGrp="1"/>
          </p:cNvSpPr>
          <p:nvPr/>
        </p:nvSpPr>
        <p:spPr>
          <a:xfrm xmlns:a="http://schemas.openxmlformats.org/drawingml/2006/main">
            <a:off x="7524750" y="3800475"/>
            <a:ext cx="3752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536672"/>
                </a:solidFill>
                <a:latin typeface="Arial"/>
                <a:ea typeface="Arial"/>
                <a:cs typeface="Arial"/>
              </a:defRPr>
            </a:pPr>
            <a:r>
              <a:rPr sz="1875" b="0">
                <a:solidFill>
                  <a:srgbClr val="536672"/>
                </a:solidFill>
                <a:latin typeface="Arial"/>
                <a:ea typeface="Arial"/>
                <a:cs typeface="Arial"/>
              </a:rPr>
              <a:t>70 timed local requests.</a:t>
            </a:r>
          </a:p>
          <a:p xmlns:a="http://schemas.openxmlformats.org/drawingml/2006/main">
            <a:pPr>
              <a:buNone/>
              <a:defRPr sz="1875" b="0">
                <a:solidFill>
                  <a:srgbClr val="536672"/>
                </a:solidFill>
                <a:latin typeface="Arial"/>
                <a:ea typeface="Arial"/>
                <a:cs typeface="Arial"/>
              </a:defRPr>
            </a:pPr>
            <a:r>
              <a:rPr sz="1875" b="0">
                <a:solidFill>
                  <a:srgbClr val="536672"/>
                </a:solidFill>
                <a:latin typeface="Arial"/>
                <a:ea typeface="Arial"/>
                <a:cs typeface="Arial"/>
              </a:rPr>
              <a:t>Intake, ambiguity and handoff.</a:t>
            </a:r>
          </a:p>
        </p:txBody>
      </p:sp>
      <p:sp>
        <p:nvSpPr>
          <p:cNvPr id="9" name="">
            <a:extLst xmlns:a="http://schemas.openxmlformats.org/drawingml/2006/main">
              <a:ext uri="{FF2B5EF4-FFF2-40B4-BE49-F238E27FC236}">
                <a16:creationId xmlns:a16="http://schemas.microsoft.com/office/drawing/2014/main" id="{55E20F83-905B-4CF8-83A2-EEF06B098489}"/>
              </a:ext>
            </a:extLst>
          </p:cNvPr>
          <p:cNvSpPr>
            <a:spLocks xmlns:a="http://schemas.openxmlformats.org/drawingml/2006/main" noGrp="1"/>
          </p:cNvSpPr>
          <p:nvPr/>
        </p:nvSpPr>
        <p:spPr>
          <a:xfrm xmlns:a="http://schemas.openxmlformats.org/drawingml/2006/main">
            <a:off x="685800" y="5295900"/>
            <a:ext cx="10820400" cy="0"/>
          </a:xfrm>
          <a:prstGeom xmlns:a="http://schemas.openxmlformats.org/drawingml/2006/main" prst="line">
            <a:avLst/>
          </a:prstGeom>
          <a:noFill xmlns:a="http://schemas.openxmlformats.org/drawingml/2006/main"/>
          <a:ln xmlns:a="http://schemas.openxmlformats.org/drawingml/2006/main" w="14288">
            <a:solidFill>
              <a:srgbClr val="C6D5D2"/>
            </a:solidFill>
          </a:ln>
        </p:spPr>
      </p:sp>
      <p:sp>
        <p:nvSpPr>
          <p:cNvPr id="10" name="V2_STATUS">
            <a:extLst xmlns:a="http://schemas.openxmlformats.org/drawingml/2006/main">
              <a:ext uri="{FF2B5EF4-FFF2-40B4-BE49-F238E27FC236}">
                <a16:creationId xmlns:a16="http://schemas.microsoft.com/office/drawing/2014/main" id="{C06A94B6-17D0-4E8D-9B6F-B56F65B99076}"/>
              </a:ext>
            </a:extLst>
          </p:cNvPr>
          <p:cNvSpPr>
            <a:spLocks xmlns:a="http://schemas.openxmlformats.org/drawingml/2006/main" noGrp="1"/>
          </p:cNvSpPr>
          <p:nvPr/>
        </p:nvSpPr>
        <p:spPr>
          <a:xfrm xmlns:a="http://schemas.openxmlformats.org/drawingml/2006/main">
            <a:off x="685800" y="54483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1">
                <a:solidFill>
                  <a:srgbClr val="33917B"/>
                </a:solidFill>
                <a:latin typeface="Arial"/>
                <a:ea typeface="Arial"/>
                <a:cs typeface="Arial"/>
              </a:defRPr>
            </a:pPr>
            <a:r>
              <a:rPr sz="1950" b="1">
                <a:solidFill>
                  <a:srgbClr val="33917B"/>
                </a:solidFill>
                <a:latin typeface="Arial"/>
                <a:ea typeface="Arial"/>
                <a:cs typeface="Arial"/>
              </a:rPr>
              <a:t>47/47 corpus inputs require clarification</a:t>
            </a:r>
          </a:p>
        </p:txBody>
      </p:sp>
      <p:sp>
        <p:nvSpPr>
          <p:cNvPr id="11" name="V2_DETAIL">
            <a:extLst xmlns:a="http://schemas.openxmlformats.org/drawingml/2006/main">
              <a:ext uri="{FF2B5EF4-FFF2-40B4-BE49-F238E27FC236}">
                <a16:creationId xmlns:a16="http://schemas.microsoft.com/office/drawing/2014/main" id="{A66D2F2E-8399-46F9-957E-CD7F59998C80}"/>
              </a:ext>
            </a:extLst>
          </p:cNvPr>
          <p:cNvSpPr>
            <a:spLocks xmlns:a="http://schemas.openxmlformats.org/drawingml/2006/main" noGrp="1"/>
          </p:cNvSpPr>
          <p:nvPr/>
        </p:nvSpPr>
        <p:spPr>
          <a:xfrm xmlns:a="http://schemas.openxmlformats.org/drawingml/2006/main">
            <a:off x="685800" y="58102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0">
                <a:solidFill>
                  <a:srgbClr val="536672"/>
                </a:solidFill>
                <a:latin typeface="Arial"/>
                <a:ea typeface="Arial"/>
                <a:cs typeface="Arial"/>
              </a:defRPr>
            </a:pPr>
            <a:r>
              <a:rPr sz="1500" b="0">
                <a:solidFill>
                  <a:srgbClr val="536672"/>
                </a:solidFill>
                <a:latin typeface="Arial"/>
                <a:ea typeface="Arial"/>
                <a:cs typeface="Arial"/>
              </a:rPr>
              <a:t>No autonomous routing. Independent ES/PT evaluation remains pending.</a:t>
            </a:r>
          </a:p>
          <a:p xmlns:a="http://schemas.openxmlformats.org/drawingml/2006/main">
            <a:pPr>
              <a:buNone/>
              <a:defRPr sz="1500" b="0">
                <a:solidFill>
                  <a:srgbClr val="536672"/>
                </a:solidFill>
                <a:latin typeface="Arial"/>
                <a:ea typeface="Arial"/>
                <a:cs typeface="Arial"/>
              </a:defRPr>
            </a:pPr>
            <a:r>
              <a:rPr sz="1500" b="0">
                <a:solidFill>
                  <a:srgbClr val="536672"/>
                </a:solidFill>
                <a:latin typeface="Arial"/>
                <a:ea typeface="Arial"/>
                <a:cs typeface="Arial"/>
              </a:rPr>
              <a:t>Software QA does not establish financial resolution or model accuracy.</a:t>
            </a:r>
          </a:p>
        </p:txBody>
      </p:sp>
    </p:spTree>
    <p:extLst>
      <p:ext uri="{BB962C8B-B14F-4D97-AF65-F5344CB8AC3E}">
        <p14:creationId xmlns:p14="http://schemas.microsoft.com/office/powerpoint/2010/main" val="15513044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D453AFF-F24A-47B5-97D2-95D963FFAA75}"/>
              </a:ext>
            </a:extLst>
          </p:cNvPr>
          <p:cNvSpPr>
            <a:spLocks xmlns:a="http://schemas.openxmlformats.org/drawingml/2006/main" noGrp="1"/>
          </p:cNvSpPr>
          <p:nvPr/>
        </p:nvSpPr>
        <p:spPr>
          <a:xfrm xmlns:a="http://schemas.openxmlformats.org/drawingml/2006/main">
            <a:off x="685800" y="55245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12D40"/>
                </a:solidFill>
                <a:latin typeface="Arial"/>
                <a:ea typeface="Arial"/>
                <a:cs typeface="Arial"/>
              </a:defRPr>
            </a:pPr>
            <a:r>
              <a:rPr sz="3300" b="1">
                <a:solidFill>
                  <a:srgbClr val="112D40"/>
                </a:solidFill>
                <a:latin typeface="Arial"/>
                <a:ea typeface="Arial"/>
                <a:cs typeface="Arial"/>
              </a:rPr>
              <a:t>Reproducible deliverables and next steps</a:t>
            </a:r>
          </a:p>
        </p:txBody>
      </p:sp>
      <p:sp>
        <p:nvSpPr>
          <p:cNvPr id="2" name="">
            <a:extLst xmlns:a="http://schemas.openxmlformats.org/drawingml/2006/main">
              <a:ext uri="{FF2B5EF4-FFF2-40B4-BE49-F238E27FC236}">
                <a16:creationId xmlns:a16="http://schemas.microsoft.com/office/drawing/2014/main" id="{DB5795B0-0837-482E-9302-CFCDB908A6B9}"/>
              </a:ext>
            </a:extLst>
          </p:cNvPr>
          <p:cNvSpPr>
            <a:spLocks xmlns:a="http://schemas.openxmlformats.org/drawingml/2006/main" noGrp="1"/>
          </p:cNvSpPr>
          <p:nvPr/>
        </p:nvSpPr>
        <p:spPr>
          <a:xfrm xmlns:a="http://schemas.openxmlformats.org/drawingml/2006/main">
            <a:off x="685800" y="63436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00" b="0">
                <a:solidFill>
                  <a:srgbClr val="536672"/>
                </a:solidFill>
                <a:latin typeface="Arial"/>
                <a:ea typeface="Arial"/>
                <a:cs typeface="Arial"/>
              </a:defRPr>
            </a:pPr>
            <a:r>
              <a:rPr sz="1200" b="0">
                <a:solidFill>
                  <a:srgbClr val="536672"/>
                </a:solidFill>
                <a:latin typeface="Arial"/>
                <a:ea typeface="Arial"/>
                <a:cs typeface="Arial"/>
              </a:rPr>
              <a:t>Sandbox. Team-created demo data. Request intake for human review.</a:t>
            </a:r>
          </a:p>
        </p:txBody>
      </p:sp>
      <p:sp>
        <p:nvSpPr>
          <p:cNvPr id="3" name="">
            <a:extLst xmlns:a="http://schemas.openxmlformats.org/drawingml/2006/main">
              <a:ext uri="{FF2B5EF4-FFF2-40B4-BE49-F238E27FC236}">
                <a16:creationId xmlns:a16="http://schemas.microsoft.com/office/drawing/2014/main" id="{03C08611-0A66-4E1D-ADBD-F93ABC2D3E1A}"/>
              </a:ext>
            </a:extLst>
          </p:cNvPr>
          <p:cNvSpPr>
            <a:spLocks xmlns:a="http://schemas.openxmlformats.org/drawingml/2006/main" noGrp="1"/>
          </p:cNvSpPr>
          <p:nvPr/>
        </p:nvSpPr>
        <p:spPr>
          <a:xfrm xmlns:a="http://schemas.openxmlformats.org/drawingml/2006/main">
            <a:off x="685800" y="1762125"/>
            <a:ext cx="5029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12D40"/>
                </a:solidFill>
                <a:latin typeface="Arial"/>
                <a:ea typeface="Arial"/>
                <a:cs typeface="Arial"/>
              </a:defRPr>
            </a:pPr>
            <a:r>
              <a:rPr sz="2325" b="1">
                <a:solidFill>
                  <a:srgbClr val="112D40"/>
                </a:solidFill>
                <a:latin typeface="Arial"/>
                <a:ea typeface="Arial"/>
                <a:cs typeface="Arial"/>
              </a:rPr>
              <a:t>Implemented prototype</a:t>
            </a:r>
          </a:p>
        </p:txBody>
      </p:sp>
      <p:sp>
        <p:nvSpPr>
          <p:cNvPr id="4" name="">
            <a:extLst xmlns:a="http://schemas.openxmlformats.org/drawingml/2006/main">
              <a:ext uri="{FF2B5EF4-FFF2-40B4-BE49-F238E27FC236}">
                <a16:creationId xmlns:a16="http://schemas.microsoft.com/office/drawing/2014/main" id="{92813DF7-EEDA-483F-B308-FD375D9895B3}"/>
              </a:ext>
            </a:extLst>
          </p:cNvPr>
          <p:cNvSpPr>
            <a:spLocks xmlns:a="http://schemas.openxmlformats.org/drawingml/2006/main" noGrp="1"/>
          </p:cNvSpPr>
          <p:nvPr/>
        </p:nvSpPr>
        <p:spPr>
          <a:xfrm xmlns:a="http://schemas.openxmlformats.org/drawingml/2006/main">
            <a:off x="685800" y="2457450"/>
            <a:ext cx="51149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243D4A"/>
                </a:solidFill>
                <a:latin typeface="Arial"/>
                <a:ea typeface="Arial"/>
                <a:cs typeface="Arial"/>
              </a:defRPr>
            </a:pPr>
            <a:r>
              <a:rPr sz="2175" b="0">
                <a:solidFill>
                  <a:srgbClr val="243D4A"/>
                </a:solidFill>
                <a:latin typeface="Arial"/>
                <a:ea typeface="Arial"/>
                <a:cs typeface="Arial"/>
              </a:rPr>
              <a:t>ES/PT client and agent view</a:t>
            </a:r>
          </a:p>
          <a:p xmlns:a="http://schemas.openxmlformats.org/drawingml/2006/main">
            <a:pPr>
              <a:buNone/>
              <a:defRPr sz="2175" b="0">
                <a:solidFill>
                  <a:srgbClr val="243D4A"/>
                </a:solidFill>
                <a:latin typeface="Arial"/>
                <a:ea typeface="Arial"/>
                <a:cs typeface="Arial"/>
              </a:defRPr>
            </a:pPr>
            <a:r>
              <a:rPr sz="2175" b="0">
                <a:solidFill>
                  <a:srgbClr val="243D4A"/>
                </a:solidFill>
                <a:latin typeface="Arial"/>
                <a:ea typeface="Arial"/>
                <a:cs typeface="Arial"/>
              </a:rPr>
              <a:t>Persisted cases and traces</a:t>
            </a:r>
          </a:p>
          <a:p xmlns:a="http://schemas.openxmlformats.org/drawingml/2006/main">
            <a:pPr>
              <a:buNone/>
              <a:defRPr sz="2175" b="0">
                <a:solidFill>
                  <a:srgbClr val="243D4A"/>
                </a:solidFill>
                <a:latin typeface="Arial"/>
                <a:ea typeface="Arial"/>
                <a:cs typeface="Arial"/>
              </a:defRPr>
            </a:pPr>
            <a:r>
              <a:rPr sz="2175" b="0">
                <a:solidFill>
                  <a:srgbClr val="243D4A"/>
                </a:solidFill>
                <a:latin typeface="Arial"/>
                <a:ea typeface="Arial"/>
                <a:cs typeface="Arial"/>
              </a:rPr>
              <a:t>Contracts, tests and reproduction</a:t>
            </a:r>
          </a:p>
        </p:txBody>
      </p:sp>
      <p:sp>
        <p:nvSpPr>
          <p:cNvPr id="5" name="">
            <a:extLst xmlns:a="http://schemas.openxmlformats.org/drawingml/2006/main">
              <a:ext uri="{FF2B5EF4-FFF2-40B4-BE49-F238E27FC236}">
                <a16:creationId xmlns:a16="http://schemas.microsoft.com/office/drawing/2014/main" id="{F30910D0-6A55-432B-88E9-26472110EB92}"/>
              </a:ext>
            </a:extLst>
          </p:cNvPr>
          <p:cNvSpPr>
            <a:spLocks xmlns:a="http://schemas.openxmlformats.org/drawingml/2006/main" noGrp="1"/>
          </p:cNvSpPr>
          <p:nvPr/>
        </p:nvSpPr>
        <p:spPr>
          <a:xfrm xmlns:a="http://schemas.openxmlformats.org/drawingml/2006/main">
            <a:off x="6819900" y="1762125"/>
            <a:ext cx="4686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12D40"/>
                </a:solidFill>
                <a:latin typeface="Arial"/>
                <a:ea typeface="Arial"/>
                <a:cs typeface="Arial"/>
              </a:defRPr>
            </a:pPr>
            <a:r>
              <a:rPr sz="2325" b="1">
                <a:solidFill>
                  <a:srgbClr val="112D40"/>
                </a:solidFill>
                <a:latin typeface="Arial"/>
                <a:ea typeface="Arial"/>
                <a:cs typeface="Arial"/>
              </a:rPr>
              <a:t>Requirements for bank use</a:t>
            </a:r>
          </a:p>
        </p:txBody>
      </p:sp>
      <p:sp>
        <p:nvSpPr>
          <p:cNvPr id="6" name="">
            <a:extLst xmlns:a="http://schemas.openxmlformats.org/drawingml/2006/main">
              <a:ext uri="{FF2B5EF4-FFF2-40B4-BE49-F238E27FC236}">
                <a16:creationId xmlns:a16="http://schemas.microsoft.com/office/drawing/2014/main" id="{686ED917-C3C3-4C7D-8C14-9C8D405B7817}"/>
              </a:ext>
            </a:extLst>
          </p:cNvPr>
          <p:cNvSpPr>
            <a:spLocks xmlns:a="http://schemas.openxmlformats.org/drawingml/2006/main" noGrp="1"/>
          </p:cNvSpPr>
          <p:nvPr/>
        </p:nvSpPr>
        <p:spPr>
          <a:xfrm xmlns:a="http://schemas.openxmlformats.org/drawingml/2006/main">
            <a:off x="6819900" y="2457450"/>
            <a:ext cx="46863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536672"/>
                </a:solidFill>
                <a:latin typeface="Arial"/>
                <a:ea typeface="Arial"/>
                <a:cs typeface="Arial"/>
              </a:defRPr>
            </a:pPr>
            <a:r>
              <a:rPr sz="2100" b="0">
                <a:solidFill>
                  <a:srgbClr val="536672"/>
                </a:solidFill>
                <a:latin typeface="Arial"/>
                <a:ea typeface="Arial"/>
                <a:cs typeface="Arial"/>
              </a:rPr>
              <a:t>Institutional identity and policies</a:t>
            </a:r>
          </a:p>
          <a:p xmlns:a="http://schemas.openxmlformats.org/drawingml/2006/main">
            <a:pPr>
              <a:buNone/>
              <a:defRPr sz="2100" b="0">
                <a:solidFill>
                  <a:srgbClr val="536672"/>
                </a:solidFill>
                <a:latin typeface="Arial"/>
                <a:ea typeface="Arial"/>
                <a:cs typeface="Arial"/>
              </a:defRPr>
            </a:pPr>
            <a:r>
              <a:rPr sz="2100" b="0">
                <a:solidFill>
                  <a:srgbClr val="536672"/>
                </a:solidFill>
                <a:latin typeface="Arial"/>
                <a:ea typeface="Arial"/>
                <a:cs typeface="Arial"/>
              </a:rPr>
              <a:t>Case management integration</a:t>
            </a:r>
          </a:p>
          <a:p xmlns:a="http://schemas.openxmlformats.org/drawingml/2006/main">
            <a:pPr>
              <a:buNone/>
              <a:defRPr sz="2100" b="0">
                <a:solidFill>
                  <a:srgbClr val="536672"/>
                </a:solidFill>
                <a:latin typeface="Arial"/>
                <a:ea typeface="Arial"/>
                <a:cs typeface="Arial"/>
              </a:defRPr>
            </a:pPr>
            <a:r>
              <a:rPr sz="2100" b="0">
                <a:solidFill>
                  <a:srgbClr val="536672"/>
                </a:solidFill>
                <a:latin typeface="Arial"/>
                <a:ea typeface="Arial"/>
                <a:cs typeface="Arial"/>
              </a:rPr>
              <a:t>Validation with representative data</a:t>
            </a:r>
          </a:p>
        </p:txBody>
      </p:sp>
      <p:sp>
        <p:nvSpPr>
          <p:cNvPr id="7" name="">
            <a:extLst xmlns:a="http://schemas.openxmlformats.org/drawingml/2006/main">
              <a:ext uri="{FF2B5EF4-FFF2-40B4-BE49-F238E27FC236}">
                <a16:creationId xmlns:a16="http://schemas.microsoft.com/office/drawing/2014/main" id="{F39CF063-3480-442A-8FDB-C9CE5DB4DB08}"/>
              </a:ext>
            </a:extLst>
          </p:cNvPr>
          <p:cNvSpPr>
            <a:spLocks xmlns:a="http://schemas.openxmlformats.org/drawingml/2006/main" noGrp="1"/>
          </p:cNvSpPr>
          <p:nvPr/>
        </p:nvSpPr>
        <p:spPr>
          <a:xfrm xmlns:a="http://schemas.openxmlformats.org/drawingml/2006/main">
            <a:off x="685800" y="4381500"/>
            <a:ext cx="10820400" cy="0"/>
          </a:xfrm>
          <a:prstGeom xmlns:a="http://schemas.openxmlformats.org/drawingml/2006/main" prst="line">
            <a:avLst/>
          </a:prstGeom>
          <a:noFill xmlns:a="http://schemas.openxmlformats.org/drawingml/2006/main"/>
          <a:ln xmlns:a="http://schemas.openxmlformats.org/drawingml/2006/main" w="14288">
            <a:solidFill>
              <a:srgbClr val="C6D5D2"/>
            </a:solidFill>
          </a:ln>
        </p:spPr>
      </p:sp>
      <p:sp>
        <p:nvSpPr>
          <p:cNvPr id="8" name="">
            <a:extLst xmlns:a="http://schemas.openxmlformats.org/drawingml/2006/main">
              <a:ext uri="{FF2B5EF4-FFF2-40B4-BE49-F238E27FC236}">
                <a16:creationId xmlns:a16="http://schemas.microsoft.com/office/drawing/2014/main" id="{37D83AA3-AA28-4022-BC0B-E35A7AE725FD}"/>
              </a:ext>
            </a:extLst>
          </p:cNvPr>
          <p:cNvSpPr>
            <a:spLocks xmlns:a="http://schemas.openxmlformats.org/drawingml/2006/main" noGrp="1"/>
          </p:cNvSpPr>
          <p:nvPr/>
        </p:nvSpPr>
        <p:spPr>
          <a:xfrm xmlns:a="http://schemas.openxmlformats.org/drawingml/2006/main">
            <a:off x="685800" y="47148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33917B"/>
                </a:solidFill>
                <a:latin typeface="Arial"/>
                <a:ea typeface="Arial"/>
                <a:cs typeface="Arial"/>
              </a:defRPr>
            </a:pPr>
            <a:r>
              <a:rPr sz="2175" b="1">
                <a:solidFill>
                  <a:srgbClr val="33917B"/>
                </a:solidFill>
                <a:latin typeface="Arial"/>
                <a:ea typeface="Arial"/>
                <a:cs typeface="Arial"/>
                <a:hlinkClick xmlns:r="http://schemas.openxmlformats.org/officeDocument/2006/relationships" r:id="R0771042c96f64350"/>
              </a:rPr>
              <a:t>Open prototype</a:t>
            </a:r>
          </a:p>
        </p:txBody>
      </p:sp>
      <p:sp>
        <p:nvSpPr>
          <p:cNvPr id="9" name="">
            <a:extLst xmlns:a="http://schemas.openxmlformats.org/drawingml/2006/main">
              <a:ext uri="{FF2B5EF4-FFF2-40B4-BE49-F238E27FC236}">
                <a16:creationId xmlns:a16="http://schemas.microsoft.com/office/drawing/2014/main" id="{AD2CB5D0-6A2F-4715-8979-84ACE9455848}"/>
              </a:ext>
            </a:extLst>
          </p:cNvPr>
          <p:cNvSpPr>
            <a:spLocks xmlns:a="http://schemas.openxmlformats.org/drawingml/2006/main" noGrp="1"/>
          </p:cNvSpPr>
          <p:nvPr/>
        </p:nvSpPr>
        <p:spPr>
          <a:xfrm xmlns:a="http://schemas.openxmlformats.org/drawingml/2006/main">
            <a:off x="6819900" y="4714875"/>
            <a:ext cx="452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33917B"/>
                </a:solidFill>
                <a:latin typeface="Arial"/>
                <a:ea typeface="Arial"/>
                <a:cs typeface="Arial"/>
              </a:defRPr>
            </a:pPr>
            <a:r>
              <a:rPr sz="2175" b="1">
                <a:solidFill>
                  <a:srgbClr val="33917B"/>
                </a:solidFill>
                <a:latin typeface="Arial"/>
                <a:ea typeface="Arial"/>
                <a:cs typeface="Arial"/>
                <a:hlinkClick xmlns:r="http://schemas.openxmlformats.org/officeDocument/2006/relationships" r:id="R764b02792eb24cbf"/>
              </a:rPr>
              <a:t>Code and reproduction</a:t>
            </a:r>
          </a:p>
        </p:txBody>
      </p:sp>
      <p:sp>
        <p:nvSpPr>
          <p:cNvPr id="10" name="">
            <a:extLst xmlns:a="http://schemas.openxmlformats.org/drawingml/2006/main">
              <a:ext uri="{FF2B5EF4-FFF2-40B4-BE49-F238E27FC236}">
                <a16:creationId xmlns:a16="http://schemas.microsoft.com/office/drawing/2014/main" id="{6A2F6C07-126C-45E5-BB52-59C97D9CD0D4}"/>
              </a:ext>
            </a:extLst>
          </p:cNvPr>
          <p:cNvSpPr>
            <a:spLocks xmlns:a="http://schemas.openxmlformats.org/drawingml/2006/main" noGrp="1"/>
          </p:cNvSpPr>
          <p:nvPr/>
        </p:nvSpPr>
        <p:spPr>
          <a:xfrm xmlns:a="http://schemas.openxmlformats.org/drawingml/2006/main">
            <a:off x="685800" y="52959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36672"/>
                </a:solidFill>
                <a:latin typeface="Arial"/>
                <a:ea typeface="Arial"/>
                <a:cs typeface="Arial"/>
              </a:defRPr>
            </a:pPr>
            <a:r>
              <a:rPr sz="1800" b="0">
                <a:solidFill>
                  <a:srgbClr val="536672"/>
                </a:solidFill>
                <a:latin typeface="Arial"/>
                <a:ea typeface="Arial"/>
                <a:cs typeface="Arial"/>
              </a:rPr>
              <a:t>Restricted demo and private code. Release and judge access need approval.</a:t>
            </a:r>
          </a:p>
        </p:txBody>
      </p:sp>
      <p:sp>
        <p:nvSpPr>
          <p:cNvPr id="11" name="">
            <a:extLst xmlns:a="http://schemas.openxmlformats.org/drawingml/2006/main">
              <a:ext uri="{FF2B5EF4-FFF2-40B4-BE49-F238E27FC236}">
                <a16:creationId xmlns:a16="http://schemas.microsoft.com/office/drawing/2014/main" id="{C1D1A9CD-E494-4E31-B1AD-D229B625B340}"/>
              </a:ext>
            </a:extLst>
          </p:cNvPr>
          <p:cNvSpPr>
            <a:spLocks xmlns:a="http://schemas.openxmlformats.org/drawingml/2006/main" noGrp="1"/>
          </p:cNvSpPr>
          <p:nvPr/>
        </p:nvSpPr>
        <p:spPr>
          <a:xfrm xmlns:a="http://schemas.openxmlformats.org/drawingml/2006/main">
            <a:off x="685800" y="58483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112D40"/>
                </a:solidFill>
                <a:latin typeface="Arial"/>
                <a:ea typeface="Arial"/>
                <a:cs typeface="Arial"/>
              </a:defRPr>
            </a:pPr>
            <a:r>
              <a:rPr sz="2025" b="1">
                <a:solidFill>
                  <a:srgbClr val="112D40"/>
                </a:solidFill>
                <a:latin typeface="Arial"/>
                <a:ea typeface="Arial"/>
                <a:cs typeface="Arial"/>
              </a:rPr>
              <a:t>Hackathon deadline: October 5, 23:59 UTC−5</a:t>
            </a:r>
          </a:p>
        </p:txBody>
      </p:sp>
    </p:spTree>
    <p:extLst>
      <p:ext uri="{BB962C8B-B14F-4D97-AF65-F5344CB8AC3E}">
        <p14:creationId xmlns:p14="http://schemas.microsoft.com/office/powerpoint/2010/main" val="8397971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2026-10-05T04:08:21.1710000Z</dcterms:created>
  <dcterms:modified xsi:type="dcterms:W3CDTF">2026-10-05T04:08:21.1710000Z</dcterms:modified>
</coreProperties>
</file>