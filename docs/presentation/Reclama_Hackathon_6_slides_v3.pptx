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9ee7fd394d94c6b" /><Relationship Type="http://schemas.openxmlformats.org/officeDocument/2006/relationships/extended-properties" Target="/docProps/app.xml" Id="Rff42485a448047a3" /><Relationship Type="http://schemas.openxmlformats.org/officeDocument/2006/relationships/officeDocument" Target="/ppt/presentation.xml" Id="Rc7ae8d78e5d84cb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3f72e7a3d214ae8"/>
  </p:sldMasterIdLst>
  <p:notesMasterIdLst>
    <p:notesMasterId xmlns:r="http://schemas.openxmlformats.org/officeDocument/2006/relationships" r:id="R560f10dce02f4efb"/>
  </p:notesMasterIdLst>
  <p:sldIdLst>
    <p:sldId xmlns:r="http://schemas.openxmlformats.org/officeDocument/2006/relationships" id="256" r:id="Ra88a85fe9f3d43fe"/>
    <p:sldId xmlns:r="http://schemas.openxmlformats.org/officeDocument/2006/relationships" id="257" r:id="Rf29812fd3a284e6f"/>
    <p:sldId xmlns:r="http://schemas.openxmlformats.org/officeDocument/2006/relationships" id="258" r:id="R4652aab5f51c4a99"/>
    <p:sldId xmlns:r="http://schemas.openxmlformats.org/officeDocument/2006/relationships" id="259" r:id="Ra67cf09503d04daa"/>
    <p:sldId xmlns:r="http://schemas.openxmlformats.org/officeDocument/2006/relationships" id="260" r:id="Rc345ea02a14b46be"/>
    <p:sldId xmlns:r="http://schemas.openxmlformats.org/officeDocument/2006/relationships" id="261" r:id="R74fb0a54716e4ae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1d5e4ab3357488e" /><Relationship Type="http://schemas.openxmlformats.org/officeDocument/2006/relationships/slideMaster" Target="/ppt/slideMasters/slideMaster1.xml" Id="R03f72e7a3d214ae8" /><Relationship Type="http://schemas.openxmlformats.org/officeDocument/2006/relationships/notesMaster" Target="/ppt/notesMasters/notesMaster1.xml" Id="R560f10dce02f4efb" /><Relationship Type="http://schemas.openxmlformats.org/officeDocument/2006/relationships/presProps" Target="/ppt/presProps.xml" Id="R06d06ed8a68e4e62" /><Relationship Type="http://schemas.openxmlformats.org/officeDocument/2006/relationships/tableStyles" Target="/ppt/tableStyles.xml" Id="R6d4624c353874af3" /><Relationship Type="http://schemas.openxmlformats.org/officeDocument/2006/relationships/slide" Target="/ppt/slides/slide1.xml" Id="Ra88a85fe9f3d43fe" /><Relationship Type="http://schemas.openxmlformats.org/officeDocument/2006/relationships/slide" Target="/ppt/slides/slide2.xml" Id="Rf29812fd3a284e6f" /><Relationship Type="http://schemas.openxmlformats.org/officeDocument/2006/relationships/slide" Target="/ppt/slides/slide3.xml" Id="R4652aab5f51c4a99" /><Relationship Type="http://schemas.openxmlformats.org/officeDocument/2006/relationships/slide" Target="/ppt/slides/slide4.xml" Id="Ra67cf09503d04daa" /><Relationship Type="http://schemas.openxmlformats.org/officeDocument/2006/relationships/slide" Target="/ppt/slides/slide5.xml" Id="Rc345ea02a14b46be" /><Relationship Type="http://schemas.openxmlformats.org/officeDocument/2006/relationships/slide" Target="/ppt/slides/slide6.xml" Id="R74fb0a54716e4ae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53add48ec8a44b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66f113f9c0b4fff" /><Relationship Type="http://schemas.openxmlformats.org/officeDocument/2006/relationships/notesMaster" Target="/ppt/notesMasters/notesMaster1.xml" Id="Rb21e4d2b64cc40b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fd3e7840bd84401" /><Relationship Type="http://schemas.openxmlformats.org/officeDocument/2006/relationships/notesMaster" Target="/ppt/notesMasters/notesMaster1.xml" Id="Rcbc4a0d1cf6c425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15b55cc7b004f90" /><Relationship Type="http://schemas.openxmlformats.org/officeDocument/2006/relationships/notesMaster" Target="/ppt/notesMasters/notesMaster1.xml" Id="Re3f63842e02a49c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82355f6c5db4a05" /><Relationship Type="http://schemas.openxmlformats.org/officeDocument/2006/relationships/notesMaster" Target="/ppt/notesMasters/notesMaster1.xml" Id="R4449b2ddd4e0421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22ad6443a654907" /><Relationship Type="http://schemas.openxmlformats.org/officeDocument/2006/relationships/notesMaster" Target="/ppt/notesMasters/notesMaster1.xml" Id="R6fe688b3b2b04d3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72ced1042ea4608" /><Relationship Type="http://schemas.openxmlformats.org/officeDocument/2006/relationships/notesMaster" Target="/ppt/notesMasters/notesMaster1.xml" Id="Rec4642fbe03742e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Problema: recibir una disputa nueva por una compra de tarjeta no reconocida. El resultado es solicitud recibida y pendiente de revisión humana. No adjudicamos fraude, no aprobamos reembolsos y no movemos dinero. Fuente de alcance: https://factored-hackathon.slack.com/files/U0C3R316RQT/F0C4J2YFMHC/factored_ai___data_hackathon_2026__1_.pdf</a:t>
            </a:r>
          </a:p>
          <a:p xmlns:a="http://schemas.openxmlformats.org/drawingml/2006/main">
            <a:r>
              <a:t>Equipo indicado por el usuario.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Captura real suministrada por el agente principal: research/build-assets/screenshots/review-es.png. Muestra la aplicación funcionando con fixtures inventados. Guion: aclarar cargos parecidos, confirmar borrador, persistir y leer expediente. Caso PT: derivación contextualizada sin prometer devolución. El flujo confirma recepción, no resolución económica. Fuente: research/build-assets/review/DEMO_175S.md y SLIDES_6_CONTENT.md.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Stack confirmado por agente principal el 29 septiembre: React19/TypeScript/Vinext, Cloudflare Worker y D1 SQLite. TF-IDF más regresión logística exportados a JSON con inferencia local. Identidad SIWC mediante header confiable de plataforma y sesión HTTPS opaca. D1 aplica triggers de auditoría y restricciones UNIQUE para casos/transacciones/reintentos. Pipeline Python inspecciona CSV privados y entrega solo fixtures inventados y agregados a UI. No hay conexión a un banco real.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 computada: research/build-assets/data/report.json, recomputado desde muestra local autorizada. 48.810 transacciones, 10.903 compras aprobadas de tarjeta, 531 sin comercio. 448 quejas con referencia a producto y ninguna coincidencia de titular. 12 cortes temporales de cuatro tablas más dimensiones completas customers/products. No son una muestra aleatoria. Reporte público de agregados: https://github.com/VillaforTech/factored-hackathon-2026-reclama/blob/main/data-pipeline/report.json . Las fuentes originales privadas no se distribuyen con esta presentación. Semántica temporal: timestamps originales sin zona horaria, 0 registros live certificados.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Resultados finales recibidos del agente principal para el único corpus reservado independiente:256 textos,128 familias,paresES/PT. v2:218/256=85,15625%,macroF1 .8310. v1:211/256=82,421875%,macroF1 .7904. Reglas:168/256=65,625%,macroF1 .6752. v2ES85,9375%,PT84,375%. Bootstrap por familias95%: mejora v2 vs reglas19,53125pp,IC[11,72;27,34]pp. v2 vs v1:IC[-1,17;6,64]pp,no concluyente. Gate de autonomía falló por abstención total: el sistema usa el modelo solo para sugerir intención con confirmación. No se atribuye la mejora de clasificación a resolución de disputas. AnotaciónIA,revisiónhumana pendiente. IntegraciónHTTP28/28 base nueva y160/160 asercionesdecontratos son comprobaciones funcionales distintas de evaluaciónlingüística. Tresbugs encontrados/corregidos. Antecedente exploratorio v1:46/64 vsreglas43/64; este64casos no se mezcla con corpusreservado256 ni con sus denominadores. LatenciaE2E,costo porresolución ybeneficioproducción no están medidos aquí.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Repositorio público confirmado por agente principal: https://github.com/VillaforTech/factored-hackathon-2026-reclama . CI typecheck/lint/build/parity/datafixtures/28HTTP freshDB: SUCCESS. Sites deployment SUCCEEDED: https://reclama-factored-2026.villafortech.chatgpt.site . Política pública y renderfrontend verificados por agenteprincipal. Login de sesión real de plataforma todavía pendiente de validación por Cloudflare. Flujo real local confirmado; la captura de diapositiva2 proviene del entorno local. No afirmar acceso endtoend público verificado. Entrega incluye presentación y requiere video máximo3min. No afirmar que ya se envió. Plazo confirmado: https://factored-hackathon.slack.com/archives/C0BU54YAKMG/p1790614675075619?thread_ts=1790611564.552809 . Requiere identidad real, políticas autorizadas, conectores bancarios y evaluación institucional antes de producción.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693b0f9112429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c32a1769899424e" /><Relationship Type="http://schemas.openxmlformats.org/officeDocument/2006/relationships/slideLayout" Target="/ppt/slideLayouts/slideLayout1.xml" Id="R324762936940460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24762936940460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349a020da045a8" /><Relationship Type="http://schemas.openxmlformats.org/officeDocument/2006/relationships/notesSlide" Target="/ppt/notesSlides/notesSlide1.xml" Id="R939979fe1b78414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4a98199e574010" /><Relationship Type="http://schemas.openxmlformats.org/officeDocument/2006/relationships/image" Target="/ppt/media/image.jpeg" Id="Re88d3147adc445fe" /><Relationship Type="http://schemas.openxmlformats.org/officeDocument/2006/relationships/notesSlide" Target="/ppt/notesSlides/notesSlide2.xml" Id="R8ecc264e0e4a498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572292157b4819" /><Relationship Type="http://schemas.openxmlformats.org/officeDocument/2006/relationships/notesSlide" Target="/ppt/notesSlides/notesSlide3.xml" Id="Rd68cd396af2b4c0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4d8e9df586414c" /><Relationship Type="http://schemas.openxmlformats.org/officeDocument/2006/relationships/notesSlide" Target="/ppt/notesSlides/notesSlide4.xml" Id="Rafd32cd1f2cd463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01f594bb5a42a3" /><Relationship Type="http://schemas.openxmlformats.org/officeDocument/2006/relationships/notesSlide" Target="/ppt/notesSlides/notesSlide5.xml" Id="Rc27100a2acba4cf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c799f40454468e" /><Relationship Type="http://schemas.openxmlformats.org/officeDocument/2006/relationships/hyperlink" Target="https://reclama-factored-2026.villafortech.chatgpt.site" TargetMode="External" Id="Rcbfef4060c8046aa" /><Relationship Type="http://schemas.openxmlformats.org/officeDocument/2006/relationships/hyperlink" Target="https://github.com/VillaforTech/factored-hackathon-2026-reclama" TargetMode="External" Id="R09db64fb1dec42ef" /><Relationship Type="http://schemas.openxmlformats.org/officeDocument/2006/relationships/notesSlide" Target="/ppt/notesSlides/notesSlide6.xml" Id="Rb6ba1ed5e8054a5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2D4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97C958-26E5-481C-AACF-780D6B6F8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287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Reclama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3A666C-59A8-4720-8418-18E6022AD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52650"/>
            <a:ext cx="1009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Disputas de tarjeta</a:t>
            </a:r>
          </a:p>
          <a:p xmlns:a="http://schemas.openxmlformats.org/drawingml/2006/main">
            <a:pPr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 evidencia verificable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63C15E-B029-463E-8920-6DF556696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95725"/>
            <a:ext cx="1000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C9E7DE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C9E7DE"/>
                </a:solidFill>
                <a:latin typeface="Arial"/>
                <a:ea typeface="Arial"/>
                <a:cs typeface="Arial"/>
              </a:rPr>
              <a:t>El cliente identifica el cargo.</a:t>
            </a:r>
          </a:p>
          <a:p xmlns:a="http://schemas.openxmlformats.org/drawingml/2006/main">
            <a:pPr>
              <a:defRPr sz="2325" b="0">
                <a:solidFill>
                  <a:srgbClr val="C9E7DE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C9E7DE"/>
                </a:solidFill>
                <a:latin typeface="Arial"/>
                <a:ea typeface="Arial"/>
                <a:cs typeface="Arial"/>
              </a:rPr>
              <a:t>El agente recibe un expediente confirmado.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3A9EBA-B37B-46B3-A896-86FCEA697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14975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Roberto Villafuerte   Jorge Arguello   Daniel Andrade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01FBD2-2FE4-46EF-965D-EED754093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865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C9E7D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C9E7DE"/>
                </a:solidFill>
                <a:latin typeface="Arial"/>
                <a:ea typeface="Arial"/>
                <a:cs typeface="Arial"/>
              </a:rPr>
              <a:t>Factored AI &amp; Data Hackathon 2026. Sandbox sin decisiones financieras reales.</a:t>
            </a:r>
          </a:p>
        </p:txBody>
      </p:sp>
    </p:spTree>
    <p:extLst>
      <p:ext uri="{BB962C8B-B14F-4D97-AF65-F5344CB8AC3E}">
        <p14:creationId xmlns:p14="http://schemas.microsoft.com/office/powerpoint/2010/main" val="101212199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78CF55-D959-48A6-8DFE-A692F7029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12D4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2D40"/>
                </a:solidFill>
                <a:latin typeface="Arial"/>
                <a:ea typeface="Arial"/>
                <a:cs typeface="Arial"/>
              </a:rPr>
              <a:t>Una solicitud completa, en español y portugués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9ED0E2-B4F7-47C5-A36E-89AD155FD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67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672"/>
                </a:solidFill>
                <a:latin typeface="Arial"/>
                <a:ea typeface="Arial"/>
                <a:cs typeface="Arial"/>
              </a:rPr>
              <a:t>Sandbox. Datos de demostración propios. Recepción de solicitudes para revisión humana.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DDF645-6518-401D-B288-9EFB88DB5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85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33917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33917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B0A672-996E-43A8-9492-EEF869FF5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12D4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12D40"/>
                </a:solidFill>
                <a:latin typeface="Arial"/>
                <a:ea typeface="Arial"/>
                <a:cs typeface="Arial"/>
              </a:rPr>
              <a:t>Identificar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12121B-0A64-4A22-AE28-B309B16A2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52725"/>
            <a:ext cx="323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3667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36672"/>
                </a:solidFill>
                <a:latin typeface="Arial"/>
                <a:ea typeface="Arial"/>
                <a:cs typeface="Arial"/>
              </a:rPr>
              <a:t>Compra propia y cargo exacto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F4DD2C-E368-4A7A-93D6-4E30A9A72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638300"/>
            <a:ext cx="85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33917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33917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7D8AE3-79DA-46AA-8978-2A9EACF9A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209800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12D4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12D40"/>
                </a:solidFill>
                <a:latin typeface="Arial"/>
                <a:ea typeface="Arial"/>
                <a:cs typeface="Arial"/>
              </a:rPr>
              <a:t>Confirmar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DA3659-61CA-4257-A203-274D73E0A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752725"/>
            <a:ext cx="323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3667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36672"/>
                </a:solidFill>
                <a:latin typeface="Arial"/>
                <a:ea typeface="Arial"/>
                <a:cs typeface="Arial"/>
              </a:rPr>
              <a:t>Hechos y declaración separados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E79FC6-6ADF-45CB-8C97-E24B3E2EA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638300"/>
            <a:ext cx="85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33917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33917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84E2D6-92C8-4B0F-B52B-71304E2F6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209800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12D4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12D40"/>
                </a:solidFill>
                <a:latin typeface="Arial"/>
                <a:ea typeface="Arial"/>
                <a:cs typeface="Arial"/>
              </a:rPr>
              <a:t>Registrar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9877BA-7B2B-483A-94E9-8A65A60D4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52725"/>
            <a:ext cx="323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3667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36672"/>
                </a:solidFill>
                <a:latin typeface="Arial"/>
                <a:ea typeface="Arial"/>
                <a:cs typeface="Arial"/>
              </a:rPr>
              <a:t>Escritura y lectura posterior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FA8918-5B6E-4F16-82AC-2630B9B0B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6D5D2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3BA10C-0DFE-405E-B967-6FA6EAB62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95725"/>
            <a:ext cx="4333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12D4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12D40"/>
                </a:solidFill>
                <a:latin typeface="Arial"/>
                <a:ea typeface="Arial"/>
                <a:cs typeface="Arial"/>
              </a:rPr>
              <a:t>El agente conserva el contexto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DF3EFA-D8A8-4D10-B9E2-ADAE62BA0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67225"/>
            <a:ext cx="4333875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43D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43D4A"/>
                </a:solidFill>
                <a:latin typeface="Arial"/>
                <a:ea typeface="Arial"/>
                <a:cs typeface="Arial"/>
              </a:rPr>
              <a:t>Hechos verificables</a:t>
            </a:r>
          </a:p>
          <a:p xmlns:a="http://schemas.openxmlformats.org/drawingml/2006/main">
            <a:pPr>
              <a:defRPr sz="2100" b="0">
                <a:solidFill>
                  <a:srgbClr val="243D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43D4A"/>
                </a:solidFill>
                <a:latin typeface="Arial"/>
                <a:ea typeface="Arial"/>
                <a:cs typeface="Arial"/>
              </a:rPr>
              <a:t>Declaración del cliente</a:t>
            </a:r>
          </a:p>
          <a:p xmlns:a="http://schemas.openxmlformats.org/drawingml/2006/main">
            <a:pPr>
              <a:defRPr sz="2100" b="0">
                <a:solidFill>
                  <a:srgbClr val="243D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43D4A"/>
                </a:solidFill>
                <a:latin typeface="Arial"/>
                <a:ea typeface="Arial"/>
                <a:cs typeface="Arial"/>
              </a:rPr>
              <a:t>Preguntas todavía abiertas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8d3147adc445fe"/>
          <a:stretch xmlns:a="http://schemas.openxmlformats.org/drawingml/2006/main"/>
        </p:blipFill>
        <p:spPr>
          <a:xfrm xmlns:a="http://schemas.openxmlformats.org/drawingml/2006/main">
            <a:off x="6425142" y="3829050"/>
            <a:ext cx="3894667" cy="2190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91117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112D0C-B3F5-4385-9252-4785869F9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12D4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2D40"/>
                </a:solidFill>
                <a:latin typeface="Arial"/>
                <a:ea typeface="Arial"/>
                <a:cs typeface="Arial"/>
              </a:rPr>
              <a:t>Arquitectura implementada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1046CA-D680-4903-8481-9C8ADD802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67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672"/>
                </a:solidFill>
                <a:latin typeface="Arial"/>
                <a:ea typeface="Arial"/>
                <a:cs typeface="Arial"/>
              </a:rPr>
              <a:t>Sandbox. Datos de demostración propios. Recepción de solicitudes para revisión humana.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CD0F3A-471C-40D2-B6F6-ABCB2D4BE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28956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0"/>
          </a:solidFill>
          <a:ln xmlns:a="http://schemas.openxmlformats.org/drawingml/2006/main" w="9525">
            <a:solidFill>
              <a:srgbClr val="C6D5D2"/>
            </a:solidFill>
          </a:ln>
        </p:spPr>
        <p:txBody>
          <a:bodyPr xmlns:a="http://schemas.openxmlformats.org/drawingml/2006/main" lIns="142875" tIns="95250" rIns="142875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12D4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12D40"/>
                </a:solidFill>
                <a:latin typeface="Arial"/>
                <a:ea typeface="Arial"/>
                <a:cs typeface="Arial"/>
              </a:rPr>
              <a:t>Cliente ES/PT</a:t>
            </a:r>
          </a:p>
          <a:p xmlns:a="http://schemas.openxmlformats.org/drawingml/2006/main">
            <a:pPr algn="ctr">
              <a:defRPr sz="1875" b="0">
                <a:solidFill>
                  <a:srgbClr val="112D4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12D40"/>
                </a:solidFill>
                <a:latin typeface="Arial"/>
                <a:ea typeface="Arial"/>
                <a:cs typeface="Arial"/>
              </a:rPr>
              <a:t>React 19 + TypeScript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39E45A-FA4B-4A30-8788-2060B6705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809750"/>
            <a:ext cx="28956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0"/>
          </a:solidFill>
          <a:ln xmlns:a="http://schemas.openxmlformats.org/drawingml/2006/main" w="9525">
            <a:solidFill>
              <a:srgbClr val="C6D5D2"/>
            </a:solidFill>
          </a:ln>
        </p:spPr>
        <p:txBody>
          <a:bodyPr xmlns:a="http://schemas.openxmlformats.org/drawingml/2006/main" lIns="142875" tIns="95250" rIns="142875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12D4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12D40"/>
                </a:solidFill>
                <a:latin typeface="Arial"/>
                <a:ea typeface="Arial"/>
                <a:cs typeface="Arial"/>
              </a:rPr>
              <a:t>TF-IDF + regresión logística</a:t>
            </a:r>
          </a:p>
          <a:p xmlns:a="http://schemas.openxmlformats.org/drawingml/2006/main">
            <a:pPr algn="ctr">
              <a:defRPr sz="1875" b="0">
                <a:solidFill>
                  <a:srgbClr val="112D4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12D40"/>
                </a:solidFill>
                <a:latin typeface="Arial"/>
                <a:ea typeface="Arial"/>
                <a:cs typeface="Arial"/>
              </a:rPr>
              <a:t>Inferencia en Worker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513940-E3C1-4F8E-ADCD-740B9678C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809750"/>
            <a:ext cx="28956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0"/>
          </a:solidFill>
          <a:ln xmlns:a="http://schemas.openxmlformats.org/drawingml/2006/main" w="9525">
            <a:solidFill>
              <a:srgbClr val="C6D5D2"/>
            </a:solidFill>
          </a:ln>
        </p:spPr>
        <p:txBody>
          <a:bodyPr xmlns:a="http://schemas.openxmlformats.org/drawingml/2006/main" lIns="142875" tIns="95250" rIns="142875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12D4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12D40"/>
                </a:solidFill>
                <a:latin typeface="Arial"/>
                <a:ea typeface="Arial"/>
                <a:cs typeface="Arial"/>
              </a:rPr>
              <a:t>Cloudflare Worker</a:t>
            </a:r>
          </a:p>
          <a:p xmlns:a="http://schemas.openxmlformats.org/drawingml/2006/main">
            <a:pPr algn="ctr">
              <a:defRPr sz="1875" b="0">
                <a:solidFill>
                  <a:srgbClr val="112D4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12D40"/>
                </a:solidFill>
                <a:latin typeface="Arial"/>
                <a:ea typeface="Arial"/>
                <a:cs typeface="Arial"/>
              </a:rPr>
              <a:t>Sesión, permisos y estados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691C97-D10F-4111-9421-5E49E0D06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238625"/>
            <a:ext cx="28956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0"/>
          </a:solidFill>
          <a:ln xmlns:a="http://schemas.openxmlformats.org/drawingml/2006/main" w="9525">
            <a:solidFill>
              <a:srgbClr val="C6D5D2"/>
            </a:solidFill>
          </a:ln>
        </p:spPr>
        <p:txBody>
          <a:bodyPr xmlns:a="http://schemas.openxmlformats.org/drawingml/2006/main" lIns="142875" tIns="95250" rIns="142875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12D4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12D40"/>
                </a:solidFill>
                <a:latin typeface="Arial"/>
                <a:ea typeface="Arial"/>
                <a:cs typeface="Arial"/>
              </a:rPr>
              <a:t>D1 / SQLite</a:t>
            </a:r>
          </a:p>
          <a:p xmlns:a="http://schemas.openxmlformats.org/drawingml/2006/main">
            <a:pPr algn="ctr">
              <a:defRPr sz="1875" b="0">
                <a:solidFill>
                  <a:srgbClr val="112D4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12D40"/>
                </a:solidFill>
                <a:latin typeface="Arial"/>
                <a:ea typeface="Arial"/>
                <a:cs typeface="Arial"/>
              </a:rPr>
              <a:t>Persistencia y auditoría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4601E4-F420-4923-BA5F-CAEB5E395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38625"/>
            <a:ext cx="28956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0"/>
          </a:solidFill>
          <a:ln xmlns:a="http://schemas.openxmlformats.org/drawingml/2006/main" w="9525">
            <a:solidFill>
              <a:srgbClr val="C6D5D2"/>
            </a:solidFill>
          </a:ln>
        </p:spPr>
        <p:txBody>
          <a:bodyPr xmlns:a="http://schemas.openxmlformats.org/drawingml/2006/main" lIns="142875" tIns="95250" rIns="142875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12D4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12D40"/>
                </a:solidFill>
                <a:latin typeface="Arial"/>
                <a:ea typeface="Arial"/>
                <a:cs typeface="Arial"/>
              </a:rPr>
              <a:t>Vista de agente</a:t>
            </a:r>
          </a:p>
          <a:p xmlns:a="http://schemas.openxmlformats.org/drawingml/2006/main">
            <a:pPr algn="ctr">
              <a:defRPr sz="1875" b="0">
                <a:solidFill>
                  <a:srgbClr val="112D4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12D40"/>
                </a:solidFill>
                <a:latin typeface="Arial"/>
                <a:ea typeface="Arial"/>
                <a:cs typeface="Arial"/>
              </a:rPr>
              <a:t>Expediente y revisión</a:t>
            </a:r>
          </a:p>
        </p:txBody>
      </p:sp>
      <p:cxnSp>
        <p:nvCxnSpPr>
          <p:cNvPr id="21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581400" y="2381250"/>
            <a:ext cx="1066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3917B"/>
            </a:solidFill>
            <a:tailEnd type="triangle" w="sm" len="sm"/>
          </a:ln>
        </p:spPr>
      </p:cxnSp>
      <p:cxnSp>
        <p:nvCxnSpPr>
          <p:cNvPr id="22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7543800" y="2381250"/>
            <a:ext cx="1066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3917B"/>
            </a:solidFill>
            <a:tailEnd type="triangle" w="sm" len="sm"/>
          </a:ln>
        </p:spPr>
      </p:cxnSp>
      <p:cxnSp>
        <p:nvCxnSpPr>
          <p:cNvPr id="23" name=""/>
          <p:cNvCxnSpPr>
            <a:stCxn xmlns:a="http://schemas.openxmlformats.org/drawingml/2006/main" id="5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10058400" y="2952750"/>
            <a:ext cx="0" cy="1285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3917B"/>
            </a:solidFill>
            <a:tailEnd type="triangle" w="sm" len="sm"/>
          </a:ln>
        </p:spPr>
      </p:cxnSp>
      <p:cxnSp>
        <p:nvCxnSpPr>
          <p:cNvPr id="24" name=""/>
          <p:cNvCxnSpPr>
            <a:stCxn xmlns:a="http://schemas.openxmlformats.org/drawingml/2006/main" id="6" idx="1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>
            <a:off x="3581400" y="4786313"/>
            <a:ext cx="5029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3917B"/>
            </a:solidFill>
            <a:tailEnd type="triangle" w="sm" len="sm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409BCE-753C-4541-B497-1D84F6439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257550"/>
            <a:ext cx="3714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33917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3917B"/>
                </a:solidFill>
                <a:latin typeface="Arial"/>
                <a:ea typeface="Arial"/>
                <a:cs typeface="Arial"/>
              </a:rPr>
              <a:t>Consentimiento versionado</a:t>
            </a:r>
          </a:p>
          <a:p xmlns:a="http://schemas.openxmlformats.org/drawingml/2006/main">
            <a:pPr>
              <a:defRPr sz="1875" b="1">
                <a:solidFill>
                  <a:srgbClr val="33917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3917B"/>
                </a:solidFill>
                <a:latin typeface="Arial"/>
                <a:ea typeface="Arial"/>
                <a:cs typeface="Arial"/>
              </a:rPr>
              <a:t>Idempotencia y restricciones</a:t>
            </a:r>
          </a:p>
          <a:p xmlns:a="http://schemas.openxmlformats.org/drawingml/2006/main">
            <a:pPr>
              <a:defRPr sz="1875" b="1">
                <a:solidFill>
                  <a:srgbClr val="33917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3917B"/>
                </a:solidFill>
                <a:latin typeface="Arial"/>
                <a:ea typeface="Arial"/>
                <a:cs typeface="Arial"/>
              </a:rPr>
              <a:t>Relectura antes del recibo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998888-AB84-4579-96AD-75C189F18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6737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67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672"/>
                </a:solidFill>
                <a:latin typeface="Arial"/>
                <a:ea typeface="Arial"/>
                <a:cs typeface="Arial"/>
              </a:rPr>
              <a:t>Sin llamadas a una API paga para clasificar la intención</a:t>
            </a:r>
          </a:p>
        </p:txBody>
      </p:sp>
    </p:spTree>
    <p:extLst>
      <p:ext uri="{BB962C8B-B14F-4D97-AF65-F5344CB8AC3E}">
        <p14:creationId xmlns:p14="http://schemas.microsoft.com/office/powerpoint/2010/main" val="172950107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179822-4D09-4B99-A394-9D2673D20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12D4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2D40"/>
                </a:solidFill>
                <a:latin typeface="Arial"/>
                <a:ea typeface="Arial"/>
                <a:cs typeface="Arial"/>
              </a:rPr>
              <a:t>Un ID existente no garantiza titularidad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C06036-9B3E-48E9-82B3-EC4AB962E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67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672"/>
                </a:solidFill>
                <a:latin typeface="Arial"/>
                <a:ea typeface="Arial"/>
                <a:cs typeface="Arial"/>
              </a:rPr>
              <a:t>Datos sintéticos. 50 archivos, 12 cortes temporales no aleatorios. Perfil reproducible, sin inferencia poblacional.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FA62B3-7453-4299-B74B-68549A59C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33718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025" b="1">
                <a:solidFill>
                  <a:srgbClr val="33917B"/>
                </a:solidFill>
                <a:latin typeface="Arial"/>
                <a:ea typeface="Arial"/>
                <a:cs typeface="Arial"/>
              </a:defRPr>
            </a:pPr>
            <a:r>
              <a:rPr sz="5025" b="1">
                <a:solidFill>
                  <a:srgbClr val="33917B"/>
                </a:solidFill>
                <a:latin typeface="Arial"/>
                <a:ea typeface="Arial"/>
                <a:cs typeface="Arial"/>
              </a:rPr>
              <a:t>10.903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CBEE59-6BC7-4B7C-966E-470627F65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100"/>
            <a:ext cx="33718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12D4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2D40"/>
                </a:solidFill>
                <a:latin typeface="Arial"/>
                <a:ea typeface="Arial"/>
                <a:cs typeface="Arial"/>
              </a:rPr>
              <a:t>compras aprobadas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FF5A1F-E517-4D41-98F6-8985443A5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32766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3667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36672"/>
                </a:solidFill>
                <a:latin typeface="Arial"/>
                <a:ea typeface="Arial"/>
                <a:cs typeface="Arial"/>
              </a:rPr>
              <a:t>Titular y moneda coherentes.</a:t>
            </a:r>
          </a:p>
          <a:p xmlns:a="http://schemas.openxmlformats.org/drawingml/2006/main">
            <a:pPr>
              <a:defRPr sz="1950" b="0">
                <a:solidFill>
                  <a:srgbClr val="53667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36672"/>
                </a:solidFill>
                <a:latin typeface="Arial"/>
                <a:ea typeface="Arial"/>
                <a:cs typeface="Arial"/>
              </a:rPr>
              <a:t>Selección del cargo.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3CCE43-4FAE-44A2-9870-D9777E9C1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057400"/>
            <a:ext cx="33718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025" b="1">
                <a:solidFill>
                  <a:srgbClr val="33917B"/>
                </a:solidFill>
                <a:latin typeface="Arial"/>
                <a:ea typeface="Arial"/>
                <a:cs typeface="Arial"/>
              </a:defRPr>
            </a:pPr>
            <a:r>
              <a:rPr sz="5025" b="1">
                <a:solidFill>
                  <a:srgbClr val="33917B"/>
                </a:solidFill>
                <a:latin typeface="Arial"/>
                <a:ea typeface="Arial"/>
                <a:cs typeface="Arial"/>
              </a:rPr>
              <a:t>531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7D45A1-7523-4187-A394-5347718FF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086100"/>
            <a:ext cx="33718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12D4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2D40"/>
                </a:solidFill>
                <a:latin typeface="Arial"/>
                <a:ea typeface="Arial"/>
                <a:cs typeface="Arial"/>
              </a:rPr>
              <a:t>sin nombre de comercio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1A9182-9237-4933-82D3-5FC41D385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771900"/>
            <a:ext cx="32766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3667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36672"/>
                </a:solidFill>
                <a:latin typeface="Arial"/>
                <a:ea typeface="Arial"/>
                <a:cs typeface="Arial"/>
              </a:rPr>
              <a:t>Entre esas 10.903 compras.</a:t>
            </a:r>
          </a:p>
          <a:p xmlns:a="http://schemas.openxmlformats.org/drawingml/2006/main">
            <a:pPr>
              <a:defRPr sz="1950" b="0">
                <a:solidFill>
                  <a:srgbClr val="53667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36672"/>
                </a:solidFill>
                <a:latin typeface="Arial"/>
                <a:ea typeface="Arial"/>
                <a:cs typeface="Arial"/>
              </a:rPr>
              <a:t>Conservamos la ausencia.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891F71-431B-4D12-BCCD-9370DFF3F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057400"/>
            <a:ext cx="33718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025" b="1">
                <a:solidFill>
                  <a:srgbClr val="112D40"/>
                </a:solidFill>
                <a:latin typeface="Arial"/>
                <a:ea typeface="Arial"/>
                <a:cs typeface="Arial"/>
              </a:defRPr>
            </a:pPr>
            <a:r>
              <a:rPr sz="5025" b="1">
                <a:solidFill>
                  <a:srgbClr val="112D40"/>
                </a:solidFill>
                <a:latin typeface="Arial"/>
                <a:ea typeface="Arial"/>
                <a:cs typeface="Arial"/>
              </a:rPr>
              <a:t>448/448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BFE9FD-9730-4402-8D09-3E33D2723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086100"/>
            <a:ext cx="33718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12D4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2D40"/>
                </a:solidFill>
                <a:latin typeface="Arial"/>
                <a:ea typeface="Arial"/>
                <a:cs typeface="Arial"/>
              </a:rPr>
              <a:t>quejas con producto ajeno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2DE2E5-B165-4C30-856E-5FCD9AFB0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771900"/>
            <a:ext cx="32766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3667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36672"/>
                </a:solidFill>
                <a:latin typeface="Arial"/>
                <a:ea typeface="Arial"/>
                <a:cs typeface="Arial"/>
              </a:rPr>
              <a:t>El propietario no coincide.</a:t>
            </a:r>
          </a:p>
          <a:p xmlns:a="http://schemas.openxmlformats.org/drawingml/2006/main">
            <a:pPr>
              <a:defRPr sz="1950" b="0">
                <a:solidFill>
                  <a:srgbClr val="53667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36672"/>
                </a:solidFill>
                <a:latin typeface="Arial"/>
                <a:ea typeface="Arial"/>
                <a:cs typeface="Arial"/>
              </a:rPr>
              <a:t>Excluimos esa unión.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B29FB6-A81F-484F-83D5-0E577BEE3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911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6D5D2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C5746D-3358-45D5-82BA-055EE380E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76875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43D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3D4A"/>
                </a:solidFill>
                <a:latin typeface="Arial"/>
                <a:ea typeface="Arial"/>
                <a:cs typeface="Arial"/>
              </a:rPr>
              <a:t>1.748 transcripciones ES; 42 textos de cliente distintos con “saldo”.</a:t>
            </a:r>
          </a:p>
          <a:p xmlns:a="http://schemas.openxmlformats.org/drawingml/2006/main">
            <a:pPr>
              <a:defRPr sz="1725" b="0">
                <a:solidFill>
                  <a:srgbClr val="243D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3D4A"/>
                </a:solidFill>
                <a:latin typeface="Arial"/>
                <a:ea typeface="Arial"/>
                <a:cs typeface="Arial"/>
              </a:rPr>
              <a:t>Los casos de disputa ES/PT requieren anotación propia y revisión humana.</a:t>
            </a:r>
          </a:p>
        </p:txBody>
      </p:sp>
    </p:spTree>
    <p:extLst>
      <p:ext uri="{BB962C8B-B14F-4D97-AF65-F5344CB8AC3E}">
        <p14:creationId xmlns:p14="http://schemas.microsoft.com/office/powerpoint/2010/main" val="47087508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E4C1D8-F553-4D3C-A8C9-601156623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12D4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2D40"/>
                </a:solidFill>
                <a:latin typeface="Arial"/>
                <a:ea typeface="Arial"/>
                <a:cs typeface="Arial"/>
              </a:rPr>
              <a:t>Evaluación con errores y límites visibles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BBD359-3F8D-4873-8000-86145A237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67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672"/>
                </a:solidFill>
                <a:latin typeface="Arial"/>
                <a:ea typeface="Arial"/>
                <a:cs typeface="Arial"/>
              </a:rPr>
              <a:t>Sandbox. Datos de demostración propios. Recepción de solicitudes para revisión humana.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5901D3-C358-4CDE-BCE7-E76789CF8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6057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12D4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12D40"/>
                </a:solidFill>
                <a:latin typeface="Arial"/>
                <a:ea typeface="Arial"/>
                <a:cs typeface="Arial"/>
              </a:rPr>
              <a:t>Clasificación reservada: 256 textos ES/PT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85800" y="2209800"/>
          <a:ext xmlns:a="http://schemas.openxmlformats.org/drawingml/2006/main" cx="5886450" cy="1943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5250"/>
                <a:gridCol w="1981200"/>
              </a:tblGrid>
              <a:tr h="647700">
                <a:tc>
                  <a:txBody>
                    <a:bodyPr lIns="171450" tIns="114300" rIns="133350" bIns="114300"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Método</a:t>
                      </a:r>
                    </a:p>
                  </a:txBody>
                  <a:tcPr marL="91440" marR="91440" marT="45720" marB="45720" anchor="ctr">
                    <a:solidFill>
                      <a:srgbClr val="112D40"/>
                    </a:solidFill>
                  </a:tcPr>
                </a:tc>
                <a:tc>
                  <a:txBody>
                    <a:bodyPr lIns="171450" tIns="114300" rIns="133350" bIns="114300"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Aciertos</a:t>
                      </a:r>
                    </a:p>
                  </a:txBody>
                  <a:tcPr marL="91440" marR="91440" marT="45720" marB="45720" anchor="ctr">
                    <a:solidFill>
                      <a:srgbClr val="112D40"/>
                    </a:solidFill>
                  </a:tcPr>
                </a:tc>
              </a:tr>
              <a:tr h="647700">
                <a:tc>
                  <a:txBody>
                    <a:bodyPr lIns="171450" tIns="114300" rIns="133350" bIns="114300"/>
                    <a:lstStyle/>
                    <a:p>
                      <a:r>
                        <a:rPr sz="2025" b="0">
                          <a:solidFill>
                            <a:srgbClr val="112D40"/>
                          </a:solidFill>
                          <a:latin typeface="Arial"/>
                          <a:ea typeface="Arial"/>
                          <a:cs typeface="Arial"/>
                        </a:rPr>
                        <a:t>Reglas</a:t>
                      </a:r>
                    </a:p>
                  </a:txBody>
                  <a:tcPr marL="91440" marR="91440" marT="45720" marB="45720" anchor="ctr">
                    <a:solidFill>
                      <a:srgbClr val="F3F6F5"/>
                    </a:solidFill>
                  </a:tcPr>
                </a:tc>
                <a:tc>
                  <a:txBody>
                    <a:bodyPr lIns="171450" tIns="114300" rIns="133350" bIns="114300"/>
                    <a:lstStyle/>
                    <a:p>
                      <a:r>
                        <a:rPr sz="2025" b="0">
                          <a:solidFill>
                            <a:srgbClr val="112D40"/>
                          </a:solidFill>
                          <a:latin typeface="Arial"/>
                          <a:ea typeface="Arial"/>
                          <a:cs typeface="Arial"/>
                        </a:rPr>
                        <a:t>168/256</a:t>
                      </a:r>
                    </a:p>
                  </a:txBody>
                  <a:tcPr marL="91440" marR="91440" marT="45720" marB="45720" anchor="ctr">
                    <a:solidFill>
                      <a:srgbClr val="F3F6F5"/>
                    </a:solidFill>
                  </a:tcPr>
                </a:tc>
              </a:tr>
              <a:tr h="647700">
                <a:tc>
                  <a:txBody>
                    <a:bodyPr lIns="171450" tIns="114300" rIns="133350" bIns="114300"/>
                    <a:lstStyle/>
                    <a:p>
                      <a:r>
                        <a:rPr sz="2025" b="0">
                          <a:solidFill>
                            <a:srgbClr val="112D40"/>
                          </a:solidFill>
                          <a:latin typeface="Arial"/>
                          <a:ea typeface="Arial"/>
                          <a:cs typeface="Arial"/>
                        </a:rPr>
                        <a:t>Modelo v2</a:t>
                      </a:r>
                    </a:p>
                  </a:txBody>
                  <a:tcPr marL="91440" marR="91440" marT="45720" marB="45720" anchor="ctr">
                    <a:solidFill>
                      <a:srgbClr val="EAF3F0"/>
                    </a:solidFill>
                  </a:tcPr>
                </a:tc>
                <a:tc>
                  <a:txBody>
                    <a:bodyPr lIns="171450" tIns="114300" rIns="133350" bIns="114300"/>
                    <a:lstStyle/>
                    <a:p>
                      <a:r>
                        <a:rPr sz="2025" b="0">
                          <a:solidFill>
                            <a:srgbClr val="112D40"/>
                          </a:solidFill>
                          <a:latin typeface="Arial"/>
                          <a:ea typeface="Arial"/>
                          <a:cs typeface="Arial"/>
                        </a:rPr>
                        <a:t>218/256</a:t>
                      </a:r>
                    </a:p>
                  </a:txBody>
                  <a:tcPr marL="91440" marR="91440" marT="45720" marB="45720" anchor="ctr">
                    <a:solidFill>
                      <a:srgbClr val="EAF3F0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B5558A-BCE5-4928-B2B3-A4BD3C30E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48175"/>
            <a:ext cx="608647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67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672"/>
                </a:solidFill>
                <a:latin typeface="Arial"/>
                <a:ea typeface="Arial"/>
                <a:cs typeface="Arial"/>
              </a:rPr>
              <a:t>Mejora vs reglas: +19,53 pp.</a:t>
            </a:r>
          </a:p>
          <a:p xmlns:a="http://schemas.openxmlformats.org/drawingml/2006/main">
            <a:pPr>
              <a:defRPr sz="1875" b="0">
                <a:solidFill>
                  <a:srgbClr val="53667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672"/>
                </a:solidFill>
                <a:latin typeface="Arial"/>
                <a:ea typeface="Arial"/>
                <a:cs typeface="Arial"/>
              </a:rPr>
              <a:t>IC 95% por familias: [11,72; 27,34] pp.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6EBA9E-27F2-464F-B8F6-3B1D05F09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933575"/>
            <a:ext cx="3714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33917B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33917B"/>
                </a:solidFill>
                <a:latin typeface="Arial"/>
                <a:ea typeface="Arial"/>
                <a:cs typeface="Arial"/>
              </a:rPr>
              <a:t>28/28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011155-0BF4-4C7E-A36A-05865A7BD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943225"/>
            <a:ext cx="37528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12D4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2D40"/>
                </a:solidFill>
                <a:latin typeface="Arial"/>
                <a:ea typeface="Arial"/>
                <a:cs typeface="Arial"/>
              </a:rPr>
              <a:t>Integración HTTP con base nueva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2FCA92-7242-45A6-9CB6-9A072EC5C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800475"/>
            <a:ext cx="37528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67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672"/>
                </a:solidFill>
                <a:latin typeface="Arial"/>
                <a:ea typeface="Arial"/>
                <a:cs typeface="Arial"/>
              </a:rPr>
              <a:t>160/160 aserciones de contratos</a:t>
            </a:r>
          </a:p>
          <a:p xmlns:a="http://schemas.openxmlformats.org/drawingml/2006/main">
            <a:pPr>
              <a:defRPr sz="1875" b="0">
                <a:solidFill>
                  <a:srgbClr val="53667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672"/>
                </a:solidFill>
                <a:latin typeface="Arial"/>
                <a:ea typeface="Arial"/>
                <a:cs typeface="Arial"/>
              </a:rPr>
              <a:t>Evaluación de lenguaje separada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12107C-A550-4FDB-B4DC-A75DE133E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6D5D2"/>
            </a:solidFill>
          </a:ln>
        </p:spPr>
      </p:sp>
      <p:sp>
        <p:nvSpPr>
          <p:cNvPr id="10" name="V2_STATUS">
            <a:extLst xmlns:a="http://schemas.openxmlformats.org/drawingml/2006/main">
              <a:ext uri="{FF2B5EF4-FFF2-40B4-BE49-F238E27FC236}">
                <a16:creationId xmlns:a16="http://schemas.microsoft.com/office/drawing/2014/main" id="{5251C742-A53C-4E46-90DA-AA2C5E2B5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33917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3917B"/>
                </a:solidFill>
                <a:latin typeface="Arial"/>
                <a:ea typeface="Arial"/>
                <a:cs typeface="Arial"/>
              </a:rPr>
              <a:t>Sin autonomía: sugerencias con confirmación</a:t>
            </a:r>
          </a:p>
        </p:txBody>
      </p:sp>
      <p:sp>
        <p:nvSpPr>
          <p:cNvPr id="11" name="V2_DETAIL">
            <a:extLst xmlns:a="http://schemas.openxmlformats.org/drawingml/2006/main">
              <a:ext uri="{FF2B5EF4-FFF2-40B4-BE49-F238E27FC236}">
                <a16:creationId xmlns:a16="http://schemas.microsoft.com/office/drawing/2014/main" id="{820BC9F4-4311-4116-8162-FEF4D5230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67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672"/>
                </a:solidFill>
                <a:latin typeface="Arial"/>
                <a:ea typeface="Arial"/>
                <a:cs typeface="Arial"/>
              </a:rPr>
              <a:t>ES 85,94%, PT 84,38%. Revisión humana pendiente. v2 vs v1: no concluyente.</a:t>
            </a:r>
          </a:p>
        </p:txBody>
      </p:sp>
    </p:spTree>
    <p:extLst>
      <p:ext uri="{BB962C8B-B14F-4D97-AF65-F5344CB8AC3E}">
        <p14:creationId xmlns:p14="http://schemas.microsoft.com/office/powerpoint/2010/main" val="124992112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439A86-44CF-4DA0-AC20-C4B95AB14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12D4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2D40"/>
                </a:solidFill>
                <a:latin typeface="Arial"/>
                <a:ea typeface="Arial"/>
                <a:cs typeface="Arial"/>
              </a:rPr>
              <a:t>Entrega reproducible y próximos pasos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BEA23D-BDE5-4C85-B34C-08B29C7C7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67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672"/>
                </a:solidFill>
                <a:latin typeface="Arial"/>
                <a:ea typeface="Arial"/>
                <a:cs typeface="Arial"/>
              </a:rPr>
              <a:t>Sandbox. Datos de demostración propios. Recepción de solicitudes para revisión humana.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35EFE7-FF14-45A3-B7FC-CA8ADC498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5029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12D4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12D40"/>
                </a:solidFill>
                <a:latin typeface="Arial"/>
                <a:ea typeface="Arial"/>
                <a:cs typeface="Arial"/>
              </a:rPr>
              <a:t>Prototipo implementado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EB7E96-4947-4DE9-B91C-6A0D20B6B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51149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43D4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43D4A"/>
                </a:solidFill>
                <a:latin typeface="Arial"/>
                <a:ea typeface="Arial"/>
                <a:cs typeface="Arial"/>
              </a:rPr>
              <a:t>Cliente ES/PT y vista de agente</a:t>
            </a:r>
          </a:p>
          <a:p xmlns:a="http://schemas.openxmlformats.org/drawingml/2006/main">
            <a:pPr>
              <a:defRPr sz="2175" b="0">
                <a:solidFill>
                  <a:srgbClr val="243D4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43D4A"/>
                </a:solidFill>
                <a:latin typeface="Arial"/>
                <a:ea typeface="Arial"/>
                <a:cs typeface="Arial"/>
              </a:rPr>
              <a:t>Casos persistidos y trazas</a:t>
            </a:r>
          </a:p>
          <a:p xmlns:a="http://schemas.openxmlformats.org/drawingml/2006/main">
            <a:pPr>
              <a:defRPr sz="2175" b="0">
                <a:solidFill>
                  <a:srgbClr val="243D4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43D4A"/>
                </a:solidFill>
                <a:latin typeface="Arial"/>
                <a:ea typeface="Arial"/>
                <a:cs typeface="Arial"/>
              </a:rPr>
              <a:t>Contratos, pruebas y reproducción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DC0BA2-9F91-41C9-9448-87F2AA15A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762125"/>
            <a:ext cx="4686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12D4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12D40"/>
                </a:solidFill>
                <a:latin typeface="Arial"/>
                <a:ea typeface="Arial"/>
                <a:cs typeface="Arial"/>
              </a:rPr>
              <a:t>Para operar con un banco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CB5F08-83F4-4167-BDDC-1DFC3D9CE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457450"/>
            <a:ext cx="46863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3667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36672"/>
                </a:solidFill>
                <a:latin typeface="Arial"/>
                <a:ea typeface="Arial"/>
                <a:cs typeface="Arial"/>
              </a:rPr>
              <a:t>Identidad y políticas institucionales</a:t>
            </a:r>
          </a:p>
          <a:p xmlns:a="http://schemas.openxmlformats.org/drawingml/2006/main">
            <a:pPr>
              <a:defRPr sz="2100" b="0">
                <a:solidFill>
                  <a:srgbClr val="53667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36672"/>
                </a:solidFill>
                <a:latin typeface="Arial"/>
                <a:ea typeface="Arial"/>
                <a:cs typeface="Arial"/>
              </a:rPr>
              <a:t>Integración con gestión de casos</a:t>
            </a:r>
          </a:p>
          <a:p xmlns:a="http://schemas.openxmlformats.org/drawingml/2006/main">
            <a:pPr>
              <a:defRPr sz="2100" b="0">
                <a:solidFill>
                  <a:srgbClr val="53667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36672"/>
                </a:solidFill>
                <a:latin typeface="Arial"/>
                <a:ea typeface="Arial"/>
                <a:cs typeface="Arial"/>
              </a:rPr>
              <a:t>Validación con datos representativos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7AA114-D035-4E16-BB43-61F2BD6B8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6D5D2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DFBF0A-FC79-4366-8889-1D3F8D90F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14875"/>
            <a:ext cx="333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33917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33917B"/>
                </a:solidFill>
                <a:latin typeface="Arial"/>
                <a:ea typeface="Arial"/>
                <a:cs typeface="Arial"/>
                <a:hlinkClick xmlns:r="http://schemas.openxmlformats.org/officeDocument/2006/relationships" r:id="Rcbfef4060c8046aa"/>
              </a:rPr>
              <a:t>Abrir prototipo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DEE4A7-442A-41B1-975D-B5DD1459F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714875"/>
            <a:ext cx="4524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33917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33917B"/>
                </a:solidFill>
                <a:latin typeface="Arial"/>
                <a:ea typeface="Arial"/>
                <a:cs typeface="Arial"/>
                <a:hlinkClick xmlns:r="http://schemas.openxmlformats.org/officeDocument/2006/relationships" r:id="R09db64fb1dec42ef"/>
              </a:rPr>
              <a:t>Código y reproducción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36A27A-064C-4F69-B7ED-0C99146BF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95900"/>
            <a:ext cx="10820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3667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36672"/>
                </a:solidFill>
                <a:latin typeface="Arial"/>
                <a:ea typeface="Arial"/>
                <a:cs typeface="Arial"/>
              </a:rPr>
              <a:t>Sitio público verificado. Login de plataforma: validación pendiente.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AB457A-9CB2-4233-B7B6-F4D114757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4835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12D4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2D40"/>
                </a:solidFill>
                <a:latin typeface="Arial"/>
                <a:ea typeface="Arial"/>
                <a:cs typeface="Arial"/>
              </a:rPr>
              <a:t>Entrega del hackathon: 5 de octubre, 23:59 UTC−5</a:t>
            </a:r>
          </a:p>
        </p:txBody>
      </p:sp>
    </p:spTree>
    <p:extLst>
      <p:ext uri="{BB962C8B-B14F-4D97-AF65-F5344CB8AC3E}">
        <p14:creationId xmlns:p14="http://schemas.microsoft.com/office/powerpoint/2010/main" val="37321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2026-09-29T19:16:24.4940000Z</dcterms:created>
  <dcterms:modified xsi:type="dcterms:W3CDTF">2026-09-29T19:16:24.4950000Z</dcterms:modified>
</coreProperties>
</file>