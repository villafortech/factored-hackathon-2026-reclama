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484d3767d84408" /><Relationship Type="http://schemas.openxmlformats.org/officeDocument/2006/relationships/extended-properties" Target="/docProps/app.xml" Id="R50b73983f10c4d34" /><Relationship Type="http://schemas.openxmlformats.org/officeDocument/2006/relationships/officeDocument" Target="/ppt/presentation.xml" Id="Rb62e15b7ab9942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86c7157fbc463b"/>
  </p:sldMasterIdLst>
  <p:notesMasterIdLst>
    <p:notesMasterId xmlns:r="http://schemas.openxmlformats.org/officeDocument/2006/relationships" r:id="R40880def988346f2"/>
  </p:notesMasterIdLst>
  <p:sldIdLst>
    <p:sldId xmlns:r="http://schemas.openxmlformats.org/officeDocument/2006/relationships" id="256" r:id="R52b1c3527828484f"/>
    <p:sldId xmlns:r="http://schemas.openxmlformats.org/officeDocument/2006/relationships" id="257" r:id="Rbdfe22143a794938"/>
    <p:sldId xmlns:r="http://schemas.openxmlformats.org/officeDocument/2006/relationships" id="258" r:id="Rf338d03cd1074cab"/>
    <p:sldId xmlns:r="http://schemas.openxmlformats.org/officeDocument/2006/relationships" id="259" r:id="R47a31853a82c4bd5"/>
    <p:sldId xmlns:r="http://schemas.openxmlformats.org/officeDocument/2006/relationships" id="260" r:id="R23bf2bb3143c47c0"/>
    <p:sldId xmlns:r="http://schemas.openxmlformats.org/officeDocument/2006/relationships" id="261" r:id="R27173d003f0442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877aa7550241e3" /><Relationship Type="http://schemas.openxmlformats.org/officeDocument/2006/relationships/slideMaster" Target="/ppt/slideMasters/slideMaster1.xml" Id="R5b86c7157fbc463b" /><Relationship Type="http://schemas.openxmlformats.org/officeDocument/2006/relationships/notesMaster" Target="/ppt/notesMasters/notesMaster1.xml" Id="R40880def988346f2" /><Relationship Type="http://schemas.openxmlformats.org/officeDocument/2006/relationships/presProps" Target="/ppt/presProps.xml" Id="Rced9e584912b4e2b" /><Relationship Type="http://schemas.openxmlformats.org/officeDocument/2006/relationships/tableStyles" Target="/ppt/tableStyles.xml" Id="R62bbd4131d8e4db6" /><Relationship Type="http://schemas.openxmlformats.org/officeDocument/2006/relationships/slide" Target="/ppt/slides/slide1.xml" Id="R52b1c3527828484f" /><Relationship Type="http://schemas.openxmlformats.org/officeDocument/2006/relationships/slide" Target="/ppt/slides/slide2.xml" Id="Rbdfe22143a794938" /><Relationship Type="http://schemas.openxmlformats.org/officeDocument/2006/relationships/slide" Target="/ppt/slides/slide3.xml" Id="Rf338d03cd1074cab" /><Relationship Type="http://schemas.openxmlformats.org/officeDocument/2006/relationships/slide" Target="/ppt/slides/slide4.xml" Id="R47a31853a82c4bd5" /><Relationship Type="http://schemas.openxmlformats.org/officeDocument/2006/relationships/slide" Target="/ppt/slides/slide5.xml" Id="R23bf2bb3143c47c0" /><Relationship Type="http://schemas.openxmlformats.org/officeDocument/2006/relationships/slide" Target="/ppt/slides/slide6.xml" Id="R27173d003f0442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288c426ce243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63a75d9b5940ed" /><Relationship Type="http://schemas.openxmlformats.org/officeDocument/2006/relationships/notesMaster" Target="/ppt/notesMasters/notesMaster1.xml" Id="R6f502919c6d348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9f85101535408e" /><Relationship Type="http://schemas.openxmlformats.org/officeDocument/2006/relationships/notesMaster" Target="/ppt/notesMasters/notesMaster1.xml" Id="R7c52f89234a74f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630d5b6fd947e3" /><Relationship Type="http://schemas.openxmlformats.org/officeDocument/2006/relationships/notesMaster" Target="/ppt/notesMasters/notesMaster1.xml" Id="R8db9c89161cb47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a068fe6c754c8d" /><Relationship Type="http://schemas.openxmlformats.org/officeDocument/2006/relationships/notesMaster" Target="/ppt/notesMasters/notesMaster1.xml" Id="R8d6ab85a5cc847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79da50ad214ced" /><Relationship Type="http://schemas.openxmlformats.org/officeDocument/2006/relationships/notesMaster" Target="/ppt/notesMasters/notesMaster1.xml" Id="R87749828e92e44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5bb6d6f5ad419e" /><Relationship Type="http://schemas.openxmlformats.org/officeDocument/2006/relationships/notesMaster" Target="/ppt/notesMasters/notesMaster1.xml" Id="R656cfbfb067542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Problema: recibir una disputa nueva por una compra de tarjeta no reconocida. El resultado es solicitud recibida y pendiente de revisión humana. No adjudicamos fraude, no aprobamos reembolsos y no movemos dinero. Fuente de alcance: https://factored-hackathon.slack.com/files/U0C3R316RQT/F0C4J2YFMHC/factored_ai___data_hackathon_2026__1_.pdf</a:t>
            </a:r>
          </a:p>
          <a:p xmlns:a="http://schemas.openxmlformats.org/drawingml/2006/main">
            <a:r>
              <a:t>Equipo indicado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suministrada por el agente principal: research/build-assets/screenshots/review-es.png. Muestra la aplicación funcionando con fixtures inventados. Guion: aclarar cargos parecidos, confirmar borrador, persistir y leer expediente. Caso PT: derivación contextualizada sin prometer devolución. El flujo confirma recepción, no resolución económica. Fuente: research/build-assets/review/DEMO_175S.md y SLIDES_6_CONTENT.md.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Stack confirmado por agente principal el 29 septiembre: React19/TypeScript/Vinext, Cloudflare Worker y D1 SQLite. TF-IDF más regresión logística exportados a JSON con inferencia local. Identidad SIWC mediante header confiable de plataforma y sesión HTTPS opaca. D1 aplica triggers de auditoría y restricciones UNIQUE para casos/transacciones/reintentos. Pipeline Python inspecciona CSV privados y entrega solo fixtures inventados y agregados a UI. No hay conexión a un banco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computada: research/build-assets/data/report.json, recomputado desde muestra local autorizada. 48.810 transacciones, 10.903 compras aprobadas de tarjeta, 531 sin comercio. 448 quejas con referencia a producto y ninguna coincidencia de titular. 12 cortes temporales de cuatro tablas más dimensiones completas customers/products. No son una muestra aleatoria. Reporte público de agregados: data-pipeline/report.json en el repositorio privado del equipo . Las fuentes originales privadas no se distribuyen con esta presentación. Semántica temporal: timestamps originales sin zona horaria, 0 registros live certificados.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QA de software y evaluación del modelo pendiente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QA de software y evaluación del modelo pendiente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**Mensaje visible:** las pruebas locales comprueban comportamiento del software. La validación independiente del modelo sigue 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**Contenido visible de la diapositiva:**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**28/28 pruebas HTTP de integración** con base nueva.</a:t>
            </a:r>
          </a:p>
          <a:p xmlns:a="http://schemas.openxmlformats.org/drawingml/2006/main">
            <a:r>
              <a:t>- **160/160 aserciones de contratos** del flujo API: escenarios preparados y repetidos.</a:t>
            </a:r>
          </a:p>
          <a:p xmlns:a="http://schemas.openxmlformats.org/drawingml/2006/main">
            <a:r>
              <a:t>- **2/2 handoffs ES/PT** persistidos, reconsultados y auditados en rutas locales preparadas.</a:t>
            </a:r>
          </a:p>
          <a:p xmlns:a="http://schemas.openxmlformats.org/drawingml/2006/main">
            <a:r>
              <a:t>- **Modelo:** el conjunto de 256 mensajes es un experimento de desarrollo creado con IA, sin registros del organizador ni revisión humana. No constituye validación independiente ni un benchmark admisible del 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Estos denominadores describen QA de software y rutas preparadas. No miden precisión del modelo, clientes independientes, resolución financiera ni seguridad bancaria general. Tres fallos encontrados durante la revisión se corrigieron. El clasificador sugiere y el flujo exige confirmación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**Notas de procedencia, fuera del titular y de la tabla visible:** el experimento de desarrollo contiene **256 mensajes creados por IA, agrupados en 128 familias de escenarios bilingües ES/PT**. Las etiquetas también proceden de IA y carecen de revisión humana. El conjunto no contiene registros del organizador. La separación respecto del entrenamiento y la comparación sobre los mismos textos no acreditan independencia, representatividad ni admisibilidad como benchmark oficial del 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conservan los resultados históricos para trazabilidad, sin presentarlos como validación o rendimiento generalizable: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Método, experimento de desarrollo creado con IA | Aciertos históricos | Exactitud histórica | Macro-F1 histórico |</a:t>
            </a:r>
          </a:p>
          <a:p xmlns:a="http://schemas.openxmlformats.org/drawingml/2006/main">
            <a:r>
              <a:t>| --- | ---: | ---: | ---: |</a:t>
            </a:r>
          </a:p>
          <a:p xmlns:a="http://schemas.openxmlformats.org/drawingml/2006/main">
            <a:r>
              <a:t>| Reglas | 168/256 | 65,63% | 0,6752 |</a:t>
            </a:r>
          </a:p>
          <a:p xmlns:a="http://schemas.openxmlformats.org/drawingml/2006/main">
            <a:r>
              <a:t>| Modelo v1 | 211/256 | 82,42% | 0,7904 |</a:t>
            </a:r>
          </a:p>
          <a:p xmlns:a="http://schemas.openxmlformats.org/drawingml/2006/main">
            <a:r>
              <a:t>| Modelo v2 | 218/256 | 85,16% | 0,8310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La diferencia histórica v2 frente a reglas es **+19,53 puntos porcentuales**. El IC 95% por bootstrap de familias **[11,72; 27,34] pp** describe solo este experimento creado con IA.</a:t>
            </a:r>
          </a:p>
          <a:p xmlns:a="http://schemas.openxmlformats.org/drawingml/2006/main">
            <a:r>
              <a:t>- La diferencia histórica v2 frente a v1 fue **no concluyente**, IC 95% **[-1,17; 6,64] pp**.</a:t>
            </a:r>
          </a:p>
          <a:p xmlns:a="http://schemas.openxmlformats.org/drawingml/2006/main">
            <a:r>
              <a:t>- Los resultados históricos v2 por idioma fueron ES **85,94%** y PT **84,38%**. Las parejas bilingües no son observaciones independientes.</a:t>
            </a:r>
          </a:p>
          <a:p xmlns:a="http://schemas.openxmlformats.org/drawingml/2006/main">
            <a:r>
              <a:t>- El gate de autonomía histórico **no se superó por abstención total**. Ese resultado tampoco acredita validación independiente.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intervalos y porcentajes no corrigen la falta de datos elegibles ni de revisión humana. No deben convertirse en titulares de rendimiento, tasas de éxito con clientes o evidencia oficial del 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**Antecedente exploratorio:** v1 obtuvo 46/64 y reglas 43/64 en un conjunto previo. Se conserva como otro antecedente de desarrollo, sin alegar superioridad ni sumarlo al denominador de 256.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**Fuentes:** [test-report v2](../ml/v2/test-report.json), [model card](../ml/v2/model-card.md), [integración nueva](evidence/http-integration-rerun-2026-09-30.json), [evaluación del flujo API](evidence/WORKFLOW_API_EVALUATION.md), [contratos nuevos](evidence/workflow-api-rerun-2026-09-30.json), [handoff nuevo](evidence/handoff-rerun-2026-09-30.json) y [recorridos completos](evidence/full-case-rerun-2026-09-30.json).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**Límites:** falta un benchmark admisible, con procedencia y revisión humana documentadas. Los datos oficiales disponibles, con 42 textos distintos ES sobre saldo, no cubren una evaluación amplia de intenciones ES/PT. La clasificación no prueba recepción segura en conversaciones completas, adjudicación, ahorro operativo o rendimiento con clientes reales. No presentar latencia de inferencia como latencia conversacional end-to-end ni costo local por llamada como costo total de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equipo: docs/SLIDES_6_CONTENT.md y docs/presentation/metrics-v4.json, corregidas el 1 de octubre de 2026. Repositorio privado: https://github.com/VillaforTech/factored-hackathon-2026-reclama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Repositorio privado del equipo según estado del 29 septiembre: https://github.com/VillaforTech/factored-hackathon-2026-reclama . CI typecheck/lint/build/parity/datafixtures/28HTTP freshDB: SUCCESS. Sites deployment SUCCEEDED: https://reclama-factored-2026.villafortech.chatgpt.site . Política owner-only y despliegue del SHA 6715df4 documentados el 29 septiembre; no hubo aceptación alojada nueva en este corte. Login de sesión real de plataforma todavía pendiente de validación por Cloudflare. Flujo real local confirmado; la captura de diapositiva2 proviene del entorno local. Acceso de jueces requiere decisión explícita y validación posterior. Entrega incluye presentación y requiere video máximo3min. No afirmar que ya se envió. Plazo confirmado: https://factored-hackathon.slack.com/archives/C0BU54YAKMG/p1790614675075619?thread_ts=1790611564.552809 . Requiere identidad real, políticas autorizadas, conectores bancarios y evaluación institucional antes de producción.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e56ed12644c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91ffc0e6574535" /><Relationship Type="http://schemas.openxmlformats.org/officeDocument/2006/relationships/slideLayout" Target="/ppt/slideLayouts/slideLayout1.xml" Id="R3e771ca01ca140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771ca01ca140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728aa576c4a2a" /><Relationship Type="http://schemas.openxmlformats.org/officeDocument/2006/relationships/notesSlide" Target="/ppt/notesSlides/notesSlide1.xml" Id="R4ecaad964b8749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f5c165f8f4ed6" /><Relationship Type="http://schemas.openxmlformats.org/officeDocument/2006/relationships/image" Target="/ppt/media/image.jpeg" Id="Rfa427ae5a0d74980" /><Relationship Type="http://schemas.openxmlformats.org/officeDocument/2006/relationships/notesSlide" Target="/ppt/notesSlides/notesSlide2.xml" Id="Red8d92af363243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7f872ee8b4a33" /><Relationship Type="http://schemas.openxmlformats.org/officeDocument/2006/relationships/notesSlide" Target="/ppt/notesSlides/notesSlide3.xml" Id="R499574ceb6ad4f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01319fdad4486" /><Relationship Type="http://schemas.openxmlformats.org/officeDocument/2006/relationships/notesSlide" Target="/ppt/notesSlides/notesSlide4.xml" Id="Rd28c9223098e4b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f34ff5c1e4ab4" /><Relationship Type="http://schemas.openxmlformats.org/officeDocument/2006/relationships/notesSlide" Target="/ppt/notesSlides/notesSlide5.xml" Id="R93608fe5e9b349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86c30880b493f" /><Relationship Type="http://schemas.openxmlformats.org/officeDocument/2006/relationships/hyperlink" Target="https://reclama-factored-2026.villafortech.chatgpt.site/" TargetMode="External" Id="Rf511b4577da741a3" /><Relationship Type="http://schemas.openxmlformats.org/officeDocument/2006/relationships/hyperlink" Target="https://github.com/VillaforTech/factored-hackathon-2026-reclama" TargetMode="External" Id="Rd4cebfcb5fa54e56" /><Relationship Type="http://schemas.openxmlformats.org/officeDocument/2006/relationships/notesSlide" Target="/ppt/notesSlides/notesSlide6.xml" Id="R6c809047d75f4d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EBB79-F0AC-4E9A-8B8B-17DCDCB7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Reclama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868E7-96E5-49EF-862A-F30E4687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Disputas de tarjeta</a:t>
            </a:r>
          </a:p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 evidencia verificable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D62A4-B868-404A-8E61-8ABF52B6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957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C9E7D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9E7DE"/>
                </a:solidFill>
                <a:latin typeface="Arial"/>
                <a:ea typeface="Arial"/>
                <a:cs typeface="Arial"/>
              </a:rPr>
              <a:t>El cliente identifica el cargo.</a:t>
            </a:r>
          </a:p>
          <a:p xmlns:a="http://schemas.openxmlformats.org/drawingml/2006/main">
            <a:pPr>
              <a:buNone/>
              <a:defRPr sz="2325" b="0">
                <a:solidFill>
                  <a:srgbClr val="C9E7D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9E7DE"/>
                </a:solidFill>
                <a:latin typeface="Arial"/>
                <a:ea typeface="Arial"/>
                <a:cs typeface="Arial"/>
              </a:rPr>
              <a:t>El agente recibe un expediente confirmado.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54F04-E2A8-486F-8980-186152B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49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Roberto Villafuerte   Jorge Arguello   Daniel Andrade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53B89-E7B9-4894-88F8-3E0AE319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E7D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E7DE"/>
                </a:solidFill>
                <a:latin typeface="Arial"/>
                <a:ea typeface="Arial"/>
                <a:cs typeface="Arial"/>
              </a:rPr>
              <a:t>Factored AI &amp; Data Hackathon 2026. Sandbox sin decisiones financieras reales.</a:t>
            </a:r>
          </a:p>
        </p:txBody>
      </p:sp>
    </p:spTree>
    <p:extLst>
      <p:ext uri="{BB962C8B-B14F-4D97-AF65-F5344CB8AC3E}">
        <p14:creationId xmlns:p14="http://schemas.microsoft.com/office/powerpoint/2010/main" val="91939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F344B-D3E0-4E59-A270-7C69D9FC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Una solicitud completa, en español y portugués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045EC-C75F-4808-8D9F-3FF7925A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Sandbox. Datos de demostración propios. Recepción de solicitudes para revisión humana.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248A4-C0E1-4245-8726-AB9E5CCA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3A25A-EAF2-45BC-A2BA-9094A0E0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Identificar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68B56-5B20-471B-95CD-0F6B71CA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Compra propia y cargo exacto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485B9-C69E-4566-B67C-78D2AE70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383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0D5C4-78AB-4318-A025-EF64362B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Confirmar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51B00-F4FF-4258-AC7A-E3A95CBF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527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Hechos y declaración separados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F9992-9A86-45C0-82CD-4005D2AF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383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020E2-235F-4A21-AC87-48C1544F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Registrar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91CBF-A6D7-4538-A100-11B54760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527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Escritura y lectura posterior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5D08C-031D-490E-94D2-431C1EE3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D5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F6CEF-33A9-4022-B07C-4CA4F711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El agente conserva el contexto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3A6B4-6028-44C3-9464-7C2106D0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3338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Hechos verificables</a:t>
            </a:r>
          </a:p>
          <a:p xmlns:a="http://schemas.openxmlformats.org/drawingml/2006/main">
            <a:pPr>
              <a:buNone/>
              <a:defRPr sz="2100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Declaración del cliente</a:t>
            </a:r>
          </a:p>
          <a:p xmlns:a="http://schemas.openxmlformats.org/drawingml/2006/main">
            <a:pPr>
              <a:buNone/>
              <a:defRPr sz="2100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Preguntas todavía abiertas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27ae5a0d74980"/>
          <a:stretch xmlns:a="http://schemas.openxmlformats.org/drawingml/2006/main"/>
        </p:blipFill>
        <p:spPr>
          <a:xfrm xmlns:a="http://schemas.openxmlformats.org/drawingml/2006/main">
            <a:off x="6425142" y="3829050"/>
            <a:ext cx="3894667" cy="2190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69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06D43-F4A7-4C00-872B-B7E0A2B3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Arquitectura implementada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A55FD-6239-4B76-A043-9FB20842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Sandbox. Datos de demostración propios. Recepción de solicitudes para revisión humana.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52C7D-AA80-4E93-B41E-C37DDCC3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9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0"/>
          </a:solidFill>
          <a:ln xmlns:a="http://schemas.openxmlformats.org/drawingml/2006/main" w="9525">
            <a:solidFill>
              <a:srgbClr val="C6D5D2"/>
            </a:solidFill>
          </a:ln>
        </p:spPr>
        <p:txBody>
          <a:bodyPr xmlns:a="http://schemas.openxmlformats.org/drawingml/2006/main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Cliente ES/PT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React 19 + TypeScript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0FBDA-C6FB-408B-9C7A-4F2AEF43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289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0"/>
          </a:solidFill>
          <a:ln xmlns:a="http://schemas.openxmlformats.org/drawingml/2006/main" w="9525">
            <a:solidFill>
              <a:srgbClr val="C6D5D2"/>
            </a:solidFill>
          </a:ln>
        </p:spPr>
        <p:txBody>
          <a:bodyPr xmlns:a="http://schemas.openxmlformats.org/drawingml/2006/main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TF-IDF + regresión logística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Inferencia en Worker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78DDC-86F6-40D9-8082-140DBE80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89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0"/>
          </a:solidFill>
          <a:ln xmlns:a="http://schemas.openxmlformats.org/drawingml/2006/main" w="9525">
            <a:solidFill>
              <a:srgbClr val="C6D5D2"/>
            </a:solidFill>
          </a:ln>
        </p:spPr>
        <p:txBody>
          <a:bodyPr xmlns:a="http://schemas.openxmlformats.org/drawingml/2006/main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Cloudflare Worker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Sesión, permisos y estados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35BF4-A4D7-4AEC-92FE-E7A3DAE9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38625"/>
            <a:ext cx="28956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0"/>
          </a:solidFill>
          <a:ln xmlns:a="http://schemas.openxmlformats.org/drawingml/2006/main" w="9525">
            <a:solidFill>
              <a:srgbClr val="C6D5D2"/>
            </a:solidFill>
          </a:ln>
        </p:spPr>
        <p:txBody>
          <a:bodyPr xmlns:a="http://schemas.openxmlformats.org/drawingml/2006/main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D1 / SQLite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Persistencia y auditoría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E2421-1EA0-403C-9177-976FAB45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8956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0"/>
          </a:solidFill>
          <a:ln xmlns:a="http://schemas.openxmlformats.org/drawingml/2006/main" w="9525">
            <a:solidFill>
              <a:srgbClr val="C6D5D2"/>
            </a:solidFill>
          </a:ln>
        </p:spPr>
        <p:txBody>
          <a:bodyPr xmlns:a="http://schemas.openxmlformats.org/drawingml/2006/main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Vista de agente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Expediente y revisión</a:t>
            </a:r>
          </a:p>
        </p:txBody>
      </p:sp>
      <p:cxnSp>
        <p:nvCxnSpPr>
          <p:cNvPr id="3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38125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917B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43800" y="238125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917B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058400" y="2952750"/>
            <a:ext cx="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917B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581400" y="4786313"/>
            <a:ext cx="5029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917B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FBCA5-C1AB-4D6E-B4B6-302BD50D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371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Consentimiento versionado</a:t>
            </a:r>
          </a:p>
          <a:p xmlns:a="http://schemas.openxmlformats.org/drawingml/2006/main">
            <a:pPr>
              <a:buNone/>
              <a:defRPr sz="18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Idempotencia y restricciones</a:t>
            </a:r>
          </a:p>
          <a:p xmlns:a="http://schemas.openxmlformats.org/drawingml/2006/main">
            <a:pPr>
              <a:buNone/>
              <a:defRPr sz="18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Relectura antes del recibo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A2166-AEDF-4743-941C-97766713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Sin llamadas a una API paga para clasificar la intención</a:t>
            </a:r>
          </a:p>
        </p:txBody>
      </p:sp>
    </p:spTree>
    <p:extLst>
      <p:ext uri="{BB962C8B-B14F-4D97-AF65-F5344CB8AC3E}">
        <p14:creationId xmlns:p14="http://schemas.microsoft.com/office/powerpoint/2010/main" val="20618113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AE03F-5A0D-417E-AB19-3B40B0EA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Un ID existente no garantiza titularidad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2ED03-1E03-4F2C-A0AA-BFFE52D4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Datos sintéticos. 50 archivos, 12 cortes temporales no aleatorios. Perfil reproducible, sin inferencia poblacional.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38B07-30ED-4567-A57C-A13A34EC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371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02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10.903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39264-33D5-44D8-9305-6B4C31A1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371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compras aprobadas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35F13-F435-4683-89CD-9CE50B0F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27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Titular y moneda coherentes.</a:t>
            </a:r>
          </a:p>
          <a:p xmlns:a="http://schemas.openxmlformats.org/drawingml/2006/main">
            <a:pPr>
              <a:buNone/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Selección del cargo.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513DE-B16E-41FD-B3BE-D415428E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57400"/>
            <a:ext cx="3371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02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531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A608D-9BF2-4AD7-84C7-5C3B90C9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3371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sin nombre de comercio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8F77B-B7D0-45D7-AAA4-2F58D093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71900"/>
            <a:ext cx="327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Entre esas 10.903 compras.</a:t>
            </a:r>
          </a:p>
          <a:p xmlns:a="http://schemas.openxmlformats.org/drawingml/2006/main">
            <a:pPr>
              <a:buNone/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Conservamos la ausencia.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1A0DD-E084-4088-93A2-997C8592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57400"/>
            <a:ext cx="3371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0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448/448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84F5E-9EC5-412F-AD5A-9402D87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86100"/>
            <a:ext cx="3371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quejas con producto ajeno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450BF-CE41-43CB-9B98-66FAECA2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27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El propietario no coincide.</a:t>
            </a:r>
          </a:p>
          <a:p xmlns:a="http://schemas.openxmlformats.org/drawingml/2006/main">
            <a:pPr>
              <a:buNone/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Excluimos esa unión.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B6C21-A3EA-487F-A716-39EB306E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D5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81AED-5AAA-4F86-9C5F-89972242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1.748 transcripciones ES; 42 textos de cliente distintos con “saldo”.</a:t>
            </a:r>
          </a:p>
          <a:p xmlns:a="http://schemas.openxmlformats.org/drawingml/2006/main">
            <a:pPr>
              <a:buNone/>
              <a:defRPr sz="1725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Los casos de disputa ES/PT requieren anotación propia y revisión humana.</a:t>
            </a:r>
          </a:p>
        </p:txBody>
      </p:sp>
    </p:spTree>
    <p:extLst>
      <p:ext uri="{BB962C8B-B14F-4D97-AF65-F5344CB8AC3E}">
        <p14:creationId xmlns:p14="http://schemas.microsoft.com/office/powerpoint/2010/main" val="889110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4D5EC-1E7E-4DE9-8790-396203AA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QA de software y evaluación del modelo pendiente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C67FD-222D-45EA-ABD6-574D2036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Sandbox. Datos de demostración propios. Recepción de solicitudes para revisión humana.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6D21D-0B75-44F5-8369-D7121288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Comprobaciones locales del flujo API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209800"/>
          <a:ext xmlns:a="http://schemas.openxmlformats.org/drawingml/2006/main" cx="588645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1981200"/>
              </a:tblGrid>
              <a:tr h="647700">
                <a:tc>
                  <a:txBody>
                    <a:bodyPr lIns="171450" tIns="114300" rIns="13335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Comprobación</a:t>
                      </a:r>
                    </a:p>
                  </a:txBody>
                  <a:tcPr marL="91440" marR="91440" marT="45720" marB="45720" anchor="ctr">
                    <a:solidFill>
                      <a:srgbClr val="112D40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1440" marR="91440" marT="45720" marB="45720" anchor="ctr">
                    <a:solidFill>
                      <a:srgbClr val="112D40"/>
                    </a:solidFill>
                  </a:tcPr>
                </a:tc>
              </a:tr>
              <a:tr h="647700">
                <a:tc>
                  <a:txBody>
                    <a:bodyPr lIns="171450" tIns="114300" rIns="133350" bIns="114300"/>
                    <a:lstStyle/>
                    <a:p>
                      <a:r>
                        <a:rPr sz="1950" b="0">
                          <a:solidFill>
                            <a:srgbClr val="112D40"/>
                          </a:solidFill>
                          <a:latin typeface="Arial"/>
                          <a:ea typeface="Arial"/>
                          <a:cs typeface="Arial"/>
                        </a:rPr>
                        <a:t>Aserciones de contratos</a:t>
                      </a:r>
                    </a:p>
                  </a:txBody>
                  <a:tcPr marL="91440" marR="91440" marT="45720" marB="45720" anchor="ctr">
                    <a:solidFill>
                      <a:srgbClr val="F3F6F5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950" b="0">
                          <a:solidFill>
                            <a:srgbClr val="112D40"/>
                          </a:solidFill>
                          <a:latin typeface="Arial"/>
                          <a:ea typeface="Arial"/>
                          <a:cs typeface="Arial"/>
                        </a:rPr>
                        <a:t>160/160</a:t>
                      </a:r>
                    </a:p>
                  </a:txBody>
                  <a:tcPr marL="91440" marR="91440" marT="45720" marB="45720" anchor="ctr">
                    <a:solidFill>
                      <a:srgbClr val="F3F6F5"/>
                    </a:solidFill>
                  </a:tcPr>
                </a:tc>
              </a:tr>
              <a:tr h="647700">
                <a:tc>
                  <a:txBody>
                    <a:bodyPr lIns="171450" tIns="114300" rIns="133350" bIns="114300"/>
                    <a:lstStyle/>
                    <a:p>
                      <a:r>
                        <a:rPr sz="1950" b="0">
                          <a:solidFill>
                            <a:srgbClr val="112D40"/>
                          </a:solidFill>
                          <a:latin typeface="Arial"/>
                          <a:ea typeface="Arial"/>
                          <a:cs typeface="Arial"/>
                        </a:rPr>
                        <a:t>Handoffs ES/PT</a:t>
                      </a:r>
                    </a:p>
                  </a:txBody>
                  <a:tcPr marL="91440" marR="91440" marT="45720" marB="45720" anchor="ctr">
                    <a:solidFill>
                      <a:srgbClr val="EAF3F0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1950" b="0">
                          <a:solidFill>
                            <a:srgbClr val="112D40"/>
                          </a:solidFill>
                          <a:latin typeface="Arial"/>
                          <a:ea typeface="Arial"/>
                          <a:cs typeface="Arial"/>
                        </a:rPr>
                        <a:t>2/2</a:t>
                      </a:r>
                    </a:p>
                  </a:txBody>
                  <a:tcPr marL="91440" marR="91440" marT="45720" marB="45720" anchor="ctr">
                    <a:solidFill>
                      <a:srgbClr val="EAF3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90799-CF7C-430E-A54B-4D853BD8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6086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Escenarios preparados y repetidos.</a:t>
            </a:r>
          </a:p>
          <a:p xmlns:a="http://schemas.openxmlformats.org/drawingml/2006/main">
            <a:pPr>
              <a:buNone/>
              <a:defRPr sz="18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Handoffs persistidos, reconsultados y auditados.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4F631-E94E-4C02-A0DA-78592292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33575"/>
            <a:ext cx="371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250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28/28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6BF69-E236-413E-8AC8-A96D77A8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43225"/>
            <a:ext cx="375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Pruebas HTTP de integración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C3DF2-0B74-478D-8AC8-58633E4C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00475"/>
            <a:ext cx="3752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Base nueva. Rutas locales.</a:t>
            </a:r>
          </a:p>
          <a:p xmlns:a="http://schemas.openxmlformats.org/drawingml/2006/main">
            <a:pPr>
              <a:buNone/>
              <a:defRPr sz="1875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QA de software, no del modelo.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20F83-905B-4CF8-83A2-EEF06B09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D5D2"/>
            </a:solidFill>
          </a:ln>
        </p:spPr>
      </p:sp>
      <p:sp>
        <p:nvSpPr>
          <p:cNvPr id="10" name="V2_STATUS">
            <a:extLst xmlns:a="http://schemas.openxmlformats.org/drawingml/2006/main">
              <a:ext uri="{FF2B5EF4-FFF2-40B4-BE49-F238E27FC236}">
                <a16:creationId xmlns:a16="http://schemas.microsoft.com/office/drawing/2014/main" id="{C06A94B6-17D0-4E8D-9B6F-B56F65B9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Validación independiente del modelo pendiente</a:t>
            </a:r>
          </a:p>
        </p:txBody>
      </p:sp>
      <p:sp>
        <p:nvSpPr>
          <p:cNvPr id="11" name="V2_DETAIL">
            <a:extLst xmlns:a="http://schemas.openxmlformats.org/drawingml/2006/main">
              <a:ext uri="{FF2B5EF4-FFF2-40B4-BE49-F238E27FC236}">
                <a16:creationId xmlns:a16="http://schemas.microsoft.com/office/drawing/2014/main" id="{A66D2F2E-8399-46F9-957E-CD7F5999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256 mensajes creados con IA, sin registros del organizador ni revisión humana.</a:t>
            </a:r>
          </a:p>
          <a:p xmlns:a="http://schemas.openxmlformats.org/drawingml/2006/main">
            <a:pPr>
              <a:buNone/>
              <a:defRPr sz="15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No es un benchmark admisible del reto.</a:t>
            </a:r>
          </a:p>
        </p:txBody>
      </p:sp>
    </p:spTree>
    <p:extLst>
      <p:ext uri="{BB962C8B-B14F-4D97-AF65-F5344CB8AC3E}">
        <p14:creationId xmlns:p14="http://schemas.microsoft.com/office/powerpoint/2010/main" val="1551304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53AFF-F24A-47B5-97D2-95D963FF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Entrega reproducible y próximos pasos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795B0-0837-482E-9302-CFCDB908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Sandbox. Datos de demostración propios. Recepción de solicitudes para revisión humana.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08611-0A66-4E1D-ADBD-F93ABC2D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Prototipo implementado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13DF7-EEDA-483F-B308-FD375D98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1149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Cliente ES/PT y vista de agente</a:t>
            </a:r>
          </a:p>
          <a:p xmlns:a="http://schemas.openxmlformats.org/drawingml/2006/main">
            <a:pPr>
              <a:buNone/>
              <a:defRPr sz="2175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Casos persistidos y trazas</a:t>
            </a:r>
          </a:p>
          <a:p xmlns:a="http://schemas.openxmlformats.org/drawingml/2006/main">
            <a:pPr>
              <a:buNone/>
              <a:defRPr sz="2175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Contratos, pruebas y reproducción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910D0-6A55-432B-88E9-26472110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62125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Para operar con un banco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ED917-C3C3-4C7D-8C14-9C8D405B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57450"/>
            <a:ext cx="4686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Identidad y políticas institucionales</a:t>
            </a:r>
          </a:p>
          <a:p xmlns:a="http://schemas.openxmlformats.org/drawingml/2006/main">
            <a:pPr>
              <a:buNone/>
              <a:defRPr sz="21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Integración con gestión de casos</a:t>
            </a:r>
          </a:p>
          <a:p xmlns:a="http://schemas.openxmlformats.org/drawingml/2006/main">
            <a:pPr>
              <a:buNone/>
              <a:defRPr sz="21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Validación con datos representativos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CF063-3480-442A-8FDB-C9CE5DB4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D5D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83AA3-AA28-4022-BC0B-E35A7AE7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3917B"/>
                </a:solidFill>
                <a:latin typeface="Arial"/>
                <a:ea typeface="Arial"/>
                <a:cs typeface="Arial"/>
                <a:hlinkClick xmlns:r="http://schemas.openxmlformats.org/officeDocument/2006/relationships" r:id="Rf511b4577da741a3"/>
              </a:rPr>
              <a:t>Abrir prototipo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CB5D0-6A2F-4715-8979-84ACE945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14875"/>
            <a:ext cx="4524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3917B"/>
                </a:solidFill>
                <a:latin typeface="Arial"/>
                <a:ea typeface="Arial"/>
                <a:cs typeface="Arial"/>
                <a:hlinkClick xmlns:r="http://schemas.openxmlformats.org/officeDocument/2006/relationships" r:id="Rd4cebfcb5fa54e56"/>
              </a:rPr>
              <a:t>Código y reproducción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F6C07-126C-45E5-BB52-59C97D9C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Demo y código privados. Login alojado y acceso de jueces pendientes.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1A9CD-E494-4E31-B1AD-D229B625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Entrega del hackathon: 5 de octubre, 23:59 UTC−5</a:t>
            </a:r>
          </a:p>
        </p:txBody>
      </p:sp>
    </p:spTree>
    <p:extLst>
      <p:ext uri="{BB962C8B-B14F-4D97-AF65-F5344CB8AC3E}">
        <p14:creationId xmlns:p14="http://schemas.microsoft.com/office/powerpoint/2010/main" val="839797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2026-10-01T18:53:39.9430000Z</dcterms:created>
  <dcterms:modified xsi:type="dcterms:W3CDTF">2026-10-01T18:53:39.9430000Z</dcterms:modified>
</coreProperties>
</file>